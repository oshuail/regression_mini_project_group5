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embeddedFontLst>
    <p:embeddedFont>
      <p:font typeface="Bricolage Grotesque" panose="020B0605040402000204" pitchFamily="34" charset="0"/>
      <p:regular r:id="rId18"/>
      <p:bold r:id="rId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font" Target="fonts/font1.fntdata"/><Relationship Id="rId19"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[name]. Introduce the team and the topic: we were asked to apply Decision Tree Regression to predict yearly insurance expenses. Say that the talk covers the problem, how the algorithm works, what the data showed, the model, and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[name]. Explain the business problem in plain words: the price is set before the bills exist, so the company needs a good estimate. The spread is huge, from about $1,100 to almost $64,000 a year, so guessing one average for everyone would be very wrong. Our job is to predict the bill from six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[name]. Walk through the columns. Three are numbers, three are categories, and expenses is the target we predict. The data is clean: no missing values and only one duplicate row. Only about one in five customers smokes, which matters later because smokers are the expensive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[name]. This is the core idea. A decision tree is like a game of 20 questions. Our tree’s first question is: does the customer smoke? Non-smokers are then split by age, smokers by BMI. When the questions stop, the customer sits in a group, and the prediction is simply the average bill of the training customers in that group. These are the real numbers from the first two levels of our tree; the full model asks up to five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[name]. How does the tree choose its questions? At each step it tests every feature and every possible cut point, and measures how much the spread of bills (the squared error) drops. Asking about smoking removes about 60% of the variation in one question. Age removes only 8%, BMI 4%. So smoking becomes the first question. Then the tree repeats the same search inside each group. This is called a greedy search: it picks the best question at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Raghad. This is the biggest finding in the data. The middle smoker pays about $34,000 a year; the middle non-smoker about $7,300. That is 4.7 times more. Smoking is text in the raw data, so it does not show up in a normal correlation heatmap; once we code it as 0 or 1, its correlation with the bill is 0.79, much stronger than age or BMI. Careful wording: this shows smokers pay more, not proof that smoking causes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Ruba. The data had no missing values, so there was nothing to fill in. We removed one duplicate row. scikit-learn needs numbers, so sex and smoker became 0 or 1. Region has four options, so we used one-hot encoding: one yes/no column per region. If we coded regions as 0, 1, 2, 3, the tree could ask “region ≤ 1.5?”, which pretends regions have an order. We did not scale anything, because a tree only compares one feature with a cut point; changing units moves the cut point but not the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Daniyah. We split the 1,337 customers into 80% for training (1,069) and 20% for testing (268). The model never sees the test customers while learning, so their score shows how it handles new people. The settings limit how big the tree can grow: at most 5 questions, a group needs 10 customers to be split, and every final group keeps at least 5 customers. These limits stop the tree from memorising individual customers. random_state=42 makes the results the same every time we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Omar. These are measured on the 268 test customers the model never saw. MAE: on average, our prediction is off by about $2,600. RMSE is also in dollars but punishes big mistakes more; it is higher than MAE, which tells us a few customers have large errors. R²: the model explains about 90% of the variation in insurance costs. MSE is the average squared error, so its unit is dollars squared; we mainly use it to get RMSE. Interpretation: most predictions are close, a few are far off. Half of all predictions are within about $1,540; only 17 of 268 are off by more than $10,000, all predicted too low, mostly non-smokers with unusually high bills that the data cannot explain (no medical history). Train R² 0.866 vs test 0.895: close, so no overfitting. Do not call R² “accuracy”. If asked why the numbers look big: the target is in plain dollars; in thousands of dollars the same model shows MAE 2.6 and RMSE 4.4, and R² stays 0.895 because it has no units.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Omar. Feature importance tells us how much each feature helped the tree reduce its error. Smoking alone accounts for 69%. BMI is second at 17% and age third at 12%. Children, sex and region contribute almost nothing. This agrees with what we saw in the EDA. Interesting detail: age has a higher correlation with the bill than BMI (0.30 vs 0.20), but BMI ranks higher here because it splits the smokers, where bills differ by tens of thousands of dollars.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Omar (or [name]). Sum up in three parts. Insight: smoking is the biggest driver, BMI matters mainly for smokers, and age raises cost steadily; the EDA and the model agree on this. Performance: about $2,600 average error and R² of 0.895 on unseen customers, with no sign of overfitting. Limits: the data has no medical history, so some expensive customers cannot be explained, the predictions come in steps, and we used one random split. Next steps: tune the depth with cross-validation (GridSearchCV) and compare with a Random Forest, which averages many trees.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4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23262B"/>
                </a:solidFill>
                <a:latin typeface="Bricolage Grotesque" pitchFamily="34" charset="0"/>
                <a:ea typeface="Bricolage Grotesque" pitchFamily="34" charset="-122"/>
                <a:cs typeface="Bricolage Grotesque"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11"/>
            <a:ext cx="10566400" cy="4109789"/>
          </a:xfrm>
          <a:prstGeom prst="rect">
            <a:avLst/>
          </a:prstGeom>
          <a:noFill/>
          <a:ln/>
        </p:spPr>
        <p:txBody>
          <a:bodyPr wrap="square" lIns="0" tIns="0" rIns="0" bIns="0" rtlCol="0" anchor="t"/>
          <a:lstStyle>
            <a:lvl1pPr algn="l" indent="0" marL="0">
              <a:lnSpc>
                <a:spcPct val="140000"/>
              </a:lnSpc>
              <a:buNone/>
              <a:defRPr lang="en-US" sz="1600" dirty="0">
                <a:solidFill>
                  <a:srgbClr val="2326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4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23262B"/>
                </a:solidFill>
                <a:latin typeface="Bricolage Grotesque" pitchFamily="34" charset="0"/>
                <a:ea typeface="Bricolage Grotesque" pitchFamily="34" charset="-122"/>
                <a:cs typeface="Bricolage Grotesque"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11"/>
            <a:ext cx="10566400" cy="4109789"/>
          </a:xfrm>
          <a:prstGeom prst="rect">
            <a:avLst/>
          </a:prstGeom>
          <a:noFill/>
          <a:ln/>
        </p:spPr>
        <p:txBody>
          <a:bodyPr wrap="square" lIns="0" tIns="0" rIns="0" bIns="0" rtlCol="0" anchor="t"/>
          <a:lstStyle>
            <a:lvl1pPr algn="l" indent="0" marL="0">
              <a:lnSpc>
                <a:spcPct val="140000"/>
              </a:lnSpc>
              <a:buNone/>
              <a:defRPr lang="en-US" sz="1600" dirty="0">
                <a:solidFill>
                  <a:srgbClr val="2326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2252A"/>
        </a:solidFill>
      </p:bgPr>
    </p:bg>
    <p:spTree>
      <p:nvGrpSpPr>
        <p:cNvPr id="1" name=""/>
        <p:cNvGrpSpPr/>
        <p:nvPr/>
      </p:nvGrpSpPr>
      <p:grpSpPr>
        <a:xfrm>
          <a:off x="0" y="0"/>
          <a:ext cx="0" cy="0"/>
          <a:chOff x="0" y="0"/>
          <a:chExt cx="0" cy="0"/>
        </a:xfrm>
      </p:grpSpPr>
      <p:sp>
        <p:nvSpPr>
          <p:cNvPr id="2" name="Shape 0"/>
          <p:cNvSpPr/>
          <p:nvPr/>
        </p:nvSpPr>
        <p:spPr>
          <a:xfrm>
            <a:off x="812800" y="812800"/>
            <a:ext cx="609600" cy="76200"/>
          </a:xfrm>
          <a:prstGeom prst="roundRect">
            <a:avLst>
              <a:gd name="adj" fmla="val 50000"/>
            </a:avLst>
          </a:prstGeom>
          <a:solidFill>
            <a:srgbClr val="6B9E78"/>
          </a:solidFill>
          <a:ln/>
        </p:spPr>
      </p:sp>
      <p:sp>
        <p:nvSpPr>
          <p:cNvPr id="3" name="Shape 1"/>
          <p:cNvSpPr/>
          <p:nvPr/>
        </p:nvSpPr>
        <p:spPr>
          <a:xfrm>
            <a:off x="1498600" y="812800"/>
            <a:ext cx="609600" cy="76200"/>
          </a:xfrm>
          <a:prstGeom prst="roundRect">
            <a:avLst>
              <a:gd name="adj" fmla="val 50000"/>
            </a:avLst>
          </a:prstGeom>
          <a:solidFill>
            <a:srgbClr val="C9A24D"/>
          </a:solidFill>
          <a:ln/>
        </p:spPr>
      </p:sp>
      <p:sp>
        <p:nvSpPr>
          <p:cNvPr id="4" name="Shape 2"/>
          <p:cNvSpPr/>
          <p:nvPr/>
        </p:nvSpPr>
        <p:spPr>
          <a:xfrm>
            <a:off x="2184400" y="812800"/>
            <a:ext cx="609600" cy="76200"/>
          </a:xfrm>
          <a:prstGeom prst="roundRect">
            <a:avLst>
              <a:gd name="adj" fmla="val 50000"/>
            </a:avLst>
          </a:prstGeom>
          <a:solidFill>
            <a:srgbClr val="C07A7A"/>
          </a:solidFill>
          <a:ln/>
        </p:spPr>
      </p:sp>
      <p:sp>
        <p:nvSpPr>
          <p:cNvPr id="5" name="Text 3"/>
          <p:cNvSpPr/>
          <p:nvPr/>
        </p:nvSpPr>
        <p:spPr>
          <a:xfrm>
            <a:off x="812800" y="1143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9A24D"/>
                </a:solidFill>
                <a:latin typeface="IBM Plex Sans" pitchFamily="34" charset="0"/>
                <a:ea typeface="IBM Plex Sans" pitchFamily="34" charset="-122"/>
                <a:cs typeface="IBM Plex Sans" pitchFamily="34" charset="-120"/>
              </a:rPr>
              <a:t>GROUP 5 · REGRESSION MINI PROJECT</a:t>
            </a:r>
            <a:endParaRPr lang="en-US" sz="1200" dirty="0"/>
          </a:p>
        </p:txBody>
      </p:sp>
      <p:sp>
        <p:nvSpPr>
          <p:cNvPr id="6" name="Text 4"/>
          <p:cNvSpPr/>
          <p:nvPr>
            <p:ph type="title"/>
          </p:nvPr>
        </p:nvSpPr>
        <p:spPr>
          <a:xfrm>
            <a:off x="812800" y="1610320"/>
            <a:ext cx="9810750"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EEECE8"/>
                </a:solidFill>
                <a:latin typeface="Bricolage Grotesque" pitchFamily="34" charset="0"/>
                <a:ea typeface="Bricolage Grotesque" pitchFamily="34" charset="-122"/>
                <a:cs typeface="Bricolage Grotesque" pitchFamily="34" charset="-120"/>
              </a:rPr>
              <a:t>Predicting Insurance Costs with a Decision Tree</a:t>
            </a:r>
            <a:endParaRPr lang="en-US" sz="6000" dirty="0"/>
          </a:p>
        </p:txBody>
      </p:sp>
      <p:sp>
        <p:nvSpPr>
          <p:cNvPr id="7" name="Text 5"/>
          <p:cNvSpPr/>
          <p:nvPr/>
        </p:nvSpPr>
        <p:spPr>
          <a:xfrm>
            <a:off x="812800" y="3464520"/>
            <a:ext cx="78486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4C1BB"/>
                </a:solidFill>
                <a:latin typeface="IBM Plex Sans" pitchFamily="34" charset="0"/>
                <a:ea typeface="IBM Plex Sans" pitchFamily="34" charset="-122"/>
                <a:cs typeface="IBM Plex Sans" pitchFamily="34" charset="-120"/>
              </a:rPr>
              <a:t>Decision Tree Regression on 1,337 real insurance customers</a:t>
            </a:r>
            <a:endParaRPr lang="en-US" sz="1600" dirty="0"/>
          </a:p>
        </p:txBody>
      </p:sp>
      <p:sp>
        <p:nvSpPr>
          <p:cNvPr id="8" name="Text 6"/>
          <p:cNvSpPr/>
          <p:nvPr/>
        </p:nvSpPr>
        <p:spPr>
          <a:xfrm>
            <a:off x="812800" y="5760740"/>
            <a:ext cx="3534489"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EECE8"/>
                </a:solidFill>
                <a:latin typeface="IBM Plex Sans" pitchFamily="34" charset="0"/>
                <a:ea typeface="IBM Plex Sans" pitchFamily="34" charset="-122"/>
                <a:cs typeface="IBM Plex Sans" pitchFamily="34" charset="-120"/>
              </a:rPr>
              <a:t>Raghad · Ruba · Daniyah · Omar</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4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F"/>
                </a:solidFill>
                <a:latin typeface="IBM Plex Sans" pitchFamily="34" charset="0"/>
                <a:ea typeface="IBM Plex Sans" pitchFamily="34" charset="-122"/>
                <a:cs typeface="IBM Plex Sans" pitchFamily="34" charset="-120"/>
              </a:rPr>
              <a:t>THE PROBLEM</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23262B"/>
                </a:solidFill>
                <a:latin typeface="Bricolage Grotesque" pitchFamily="34" charset="0"/>
                <a:ea typeface="Bricolage Grotesque" pitchFamily="34" charset="-122"/>
                <a:cs typeface="Bricolage Grotesque" pitchFamily="34" charset="-120"/>
              </a:rPr>
              <a:t>How much will a customer cost next year?</a:t>
            </a:r>
            <a:endParaRPr lang="en-US" sz="3600" dirty="0"/>
          </a:p>
        </p:txBody>
      </p:sp>
      <p:sp>
        <p:nvSpPr>
          <p:cNvPr id="4" name="Text 2"/>
          <p:cNvSpPr/>
          <p:nvPr/>
        </p:nvSpPr>
        <p:spPr>
          <a:xfrm>
            <a:off x="812800" y="1986211"/>
            <a:ext cx="6540500" cy="90929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E535B"/>
                </a:solidFill>
                <a:latin typeface="IBM Plex Sans" pitchFamily="34" charset="0"/>
                <a:ea typeface="IBM Plex Sans" pitchFamily="34" charset="-122"/>
                <a:cs typeface="IBM Plex Sans" pitchFamily="34" charset="-120"/>
              </a:rPr>
              <a:t>Insurance companies must set a price before any medical bills arrive. Price too low and they lose money. Price too high and customers leave.</a:t>
            </a:r>
            <a:endParaRPr lang="en-US" sz="1600" dirty="0"/>
          </a:p>
        </p:txBody>
      </p:sp>
      <p:sp>
        <p:nvSpPr>
          <p:cNvPr id="5" name="Text 3"/>
          <p:cNvSpPr/>
          <p:nvPr/>
        </p:nvSpPr>
        <p:spPr>
          <a:xfrm>
            <a:off x="812800" y="3073301"/>
            <a:ext cx="6540500" cy="614660"/>
          </a:xfrm>
          <a:prstGeom prst="rect">
            <a:avLst/>
          </a:prstGeom>
          <a:noFill/>
          <a:ln/>
        </p:spPr>
        <p:txBody>
          <a:bodyPr wrap="square" lIns="0" tIns="0" rIns="0" bIns="0" rtlCol="0" anchor="t">
            <a:normAutofit/>
          </a:bodyPr>
          <a:lstStyle/>
          <a:p>
            <a:pPr algn="l" indent="0" marL="0">
              <a:lnSpc>
                <a:spcPts val="2320"/>
              </a:lnSpc>
              <a:buNone/>
            </a:pPr>
            <a:r>
              <a:rPr lang="en-US" sz="1600" b="1" dirty="0">
                <a:solidFill>
                  <a:srgbClr val="23262B"/>
                </a:solidFill>
                <a:latin typeface="IBM Plex Sans" pitchFamily="34" charset="0"/>
                <a:ea typeface="IBM Plex Sans" pitchFamily="34" charset="-122"/>
                <a:cs typeface="IBM Plex Sans" pitchFamily="34" charset="-120"/>
              </a:rPr>
              <a:t>Our goal: predict a customer’s yearly medical bill from six simple facts about them.</a:t>
            </a:r>
            <a:endParaRPr lang="en-US" sz="1600" dirty="0"/>
          </a:p>
        </p:txBody>
      </p:sp>
      <p:sp>
        <p:nvSpPr>
          <p:cNvPr id="6" name="Text 4"/>
          <p:cNvSpPr/>
          <p:nvPr/>
        </p:nvSpPr>
        <p:spPr>
          <a:xfrm>
            <a:off x="819150" y="3872111"/>
            <a:ext cx="552103" cy="363190"/>
          </a:xfrm>
          <a:prstGeom prst="roundRect">
            <a:avLst>
              <a:gd name="adj" fmla="val 40213"/>
            </a:avLst>
          </a:prstGeom>
          <a:solidFill>
            <a:srgbClr val="FCFBF9"/>
          </a:solidFill>
          <a:ln w="12700">
            <a:solidFill>
              <a:srgbClr val="DDDAD4"/>
            </a:solidFill>
            <a:prstDash val="solid"/>
          </a:ln>
        </p:spPr>
        <p:txBody>
          <a:bodyPr wrap="none" lIns="0" tIns="0" rIns="0" bIns="0" rtlCol="0" anchor="ctr">
            <a:normAutofit/>
          </a:bodyPr>
          <a:lstStyle/>
          <a:p>
            <a:pPr algn="ctr" indent="0" marL="0">
              <a:lnSpc>
                <a:spcPts val="1960"/>
              </a:lnSpc>
              <a:buNone/>
            </a:pPr>
            <a:r>
              <a:rPr lang="en-US" sz="1400" dirty="0">
                <a:solidFill>
                  <a:srgbClr val="23262B"/>
                </a:solidFill>
                <a:latin typeface="IBM Plex Sans" pitchFamily="34" charset="0"/>
                <a:ea typeface="IBM Plex Sans" pitchFamily="34" charset="-122"/>
                <a:cs typeface="IBM Plex Sans" pitchFamily="34" charset="-120"/>
              </a:rPr>
              <a:t>age</a:t>
            </a:r>
            <a:endParaRPr lang="en-US" sz="1400" dirty="0"/>
          </a:p>
        </p:txBody>
      </p:sp>
      <p:sp>
        <p:nvSpPr>
          <p:cNvPr id="7" name="Text 5"/>
          <p:cNvSpPr/>
          <p:nvPr/>
        </p:nvSpPr>
        <p:spPr>
          <a:xfrm>
            <a:off x="1460153" y="3872111"/>
            <a:ext cx="538956" cy="363190"/>
          </a:xfrm>
          <a:prstGeom prst="roundRect">
            <a:avLst>
              <a:gd name="adj" fmla="val 40213"/>
            </a:avLst>
          </a:prstGeom>
          <a:solidFill>
            <a:srgbClr val="FCFBF9"/>
          </a:solidFill>
          <a:ln w="12700">
            <a:solidFill>
              <a:srgbClr val="DDDAD4"/>
            </a:solidFill>
            <a:prstDash val="solid"/>
          </a:ln>
        </p:spPr>
        <p:txBody>
          <a:bodyPr wrap="none" lIns="0" tIns="0" rIns="0" bIns="0" rtlCol="0" anchor="ctr">
            <a:normAutofit/>
          </a:bodyPr>
          <a:lstStyle/>
          <a:p>
            <a:pPr algn="ctr" indent="0" marL="0">
              <a:lnSpc>
                <a:spcPts val="1960"/>
              </a:lnSpc>
              <a:buNone/>
            </a:pPr>
            <a:r>
              <a:rPr lang="en-US" sz="1400" dirty="0">
                <a:solidFill>
                  <a:srgbClr val="23262B"/>
                </a:solidFill>
                <a:latin typeface="IBM Plex Sans" pitchFamily="34" charset="0"/>
                <a:ea typeface="IBM Plex Sans" pitchFamily="34" charset="-122"/>
                <a:cs typeface="IBM Plex Sans" pitchFamily="34" charset="-120"/>
              </a:rPr>
              <a:t>sex</a:t>
            </a:r>
            <a:endParaRPr lang="en-US" sz="1400" dirty="0"/>
          </a:p>
        </p:txBody>
      </p:sp>
      <p:sp>
        <p:nvSpPr>
          <p:cNvPr id="8" name="Text 6"/>
          <p:cNvSpPr/>
          <p:nvPr/>
        </p:nvSpPr>
        <p:spPr>
          <a:xfrm>
            <a:off x="2088009" y="3872111"/>
            <a:ext cx="598339" cy="363190"/>
          </a:xfrm>
          <a:prstGeom prst="roundRect">
            <a:avLst>
              <a:gd name="adj" fmla="val 40213"/>
            </a:avLst>
          </a:prstGeom>
          <a:solidFill>
            <a:srgbClr val="FCFBF9"/>
          </a:solidFill>
          <a:ln w="12700">
            <a:solidFill>
              <a:srgbClr val="DDDAD4"/>
            </a:solidFill>
            <a:prstDash val="solid"/>
          </a:ln>
        </p:spPr>
        <p:txBody>
          <a:bodyPr wrap="none" lIns="0" tIns="0" rIns="0" bIns="0" rtlCol="0" anchor="ctr">
            <a:normAutofit/>
          </a:bodyPr>
          <a:lstStyle/>
          <a:p>
            <a:pPr algn="ctr" indent="0" marL="0">
              <a:lnSpc>
                <a:spcPts val="1960"/>
              </a:lnSpc>
              <a:buNone/>
            </a:pPr>
            <a:r>
              <a:rPr lang="en-US" sz="1400" dirty="0">
                <a:solidFill>
                  <a:srgbClr val="23262B"/>
                </a:solidFill>
                <a:latin typeface="IBM Plex Sans" pitchFamily="34" charset="0"/>
                <a:ea typeface="IBM Plex Sans" pitchFamily="34" charset="-122"/>
                <a:cs typeface="IBM Plex Sans" pitchFamily="34" charset="-120"/>
              </a:rPr>
              <a:t>BMI</a:t>
            </a:r>
            <a:endParaRPr lang="en-US" sz="1400" dirty="0"/>
          </a:p>
        </p:txBody>
      </p:sp>
      <p:sp>
        <p:nvSpPr>
          <p:cNvPr id="9" name="Text 7"/>
          <p:cNvSpPr/>
          <p:nvPr/>
        </p:nvSpPr>
        <p:spPr>
          <a:xfrm>
            <a:off x="2775248" y="3872111"/>
            <a:ext cx="916037" cy="363190"/>
          </a:xfrm>
          <a:prstGeom prst="roundRect">
            <a:avLst>
              <a:gd name="adj" fmla="val 40213"/>
            </a:avLst>
          </a:prstGeom>
          <a:solidFill>
            <a:srgbClr val="FCFBF9"/>
          </a:solidFill>
          <a:ln w="12700">
            <a:solidFill>
              <a:srgbClr val="DDDAD4"/>
            </a:solidFill>
            <a:prstDash val="solid"/>
          </a:ln>
        </p:spPr>
        <p:txBody>
          <a:bodyPr wrap="none" lIns="0" tIns="0" rIns="0" bIns="0" rtlCol="0" anchor="ctr">
            <a:normAutofit/>
          </a:bodyPr>
          <a:lstStyle/>
          <a:p>
            <a:pPr algn="ctr" indent="0" marL="0">
              <a:lnSpc>
                <a:spcPts val="1960"/>
              </a:lnSpc>
              <a:buNone/>
            </a:pPr>
            <a:r>
              <a:rPr lang="en-US" sz="1400" dirty="0">
                <a:solidFill>
                  <a:srgbClr val="23262B"/>
                </a:solidFill>
                <a:latin typeface="IBM Plex Sans" pitchFamily="34" charset="0"/>
                <a:ea typeface="IBM Plex Sans" pitchFamily="34" charset="-122"/>
                <a:cs typeface="IBM Plex Sans" pitchFamily="34" charset="-120"/>
              </a:rPr>
              <a:t>children</a:t>
            </a:r>
            <a:endParaRPr lang="en-US" sz="1400" dirty="0"/>
          </a:p>
        </p:txBody>
      </p:sp>
      <p:sp>
        <p:nvSpPr>
          <p:cNvPr id="10" name="Text 8"/>
          <p:cNvSpPr/>
          <p:nvPr/>
        </p:nvSpPr>
        <p:spPr>
          <a:xfrm>
            <a:off x="3780185" y="3872111"/>
            <a:ext cx="861665" cy="363190"/>
          </a:xfrm>
          <a:prstGeom prst="roundRect">
            <a:avLst>
              <a:gd name="adj" fmla="val 40213"/>
            </a:avLst>
          </a:prstGeom>
          <a:solidFill>
            <a:srgbClr val="FCFBF9"/>
          </a:solidFill>
          <a:ln w="12700">
            <a:solidFill>
              <a:srgbClr val="DDDAD4"/>
            </a:solidFill>
            <a:prstDash val="solid"/>
          </a:ln>
        </p:spPr>
        <p:txBody>
          <a:bodyPr wrap="none" lIns="0" tIns="0" rIns="0" bIns="0" rtlCol="0" anchor="ctr">
            <a:normAutofit/>
          </a:bodyPr>
          <a:lstStyle/>
          <a:p>
            <a:pPr algn="ctr" indent="0" marL="0">
              <a:lnSpc>
                <a:spcPts val="1960"/>
              </a:lnSpc>
              <a:buNone/>
            </a:pPr>
            <a:r>
              <a:rPr lang="en-US" sz="1400" dirty="0">
                <a:solidFill>
                  <a:srgbClr val="23262B"/>
                </a:solidFill>
                <a:latin typeface="IBM Plex Sans" pitchFamily="34" charset="0"/>
                <a:ea typeface="IBM Plex Sans" pitchFamily="34" charset="-122"/>
                <a:cs typeface="IBM Plex Sans" pitchFamily="34" charset="-120"/>
              </a:rPr>
              <a:t>smoker</a:t>
            </a:r>
            <a:endParaRPr lang="en-US" sz="1400" dirty="0"/>
          </a:p>
        </p:txBody>
      </p:sp>
      <p:sp>
        <p:nvSpPr>
          <p:cNvPr id="11" name="Text 9"/>
          <p:cNvSpPr/>
          <p:nvPr/>
        </p:nvSpPr>
        <p:spPr>
          <a:xfrm>
            <a:off x="4730750" y="3872111"/>
            <a:ext cx="767606" cy="363190"/>
          </a:xfrm>
          <a:prstGeom prst="roundRect">
            <a:avLst>
              <a:gd name="adj" fmla="val 40213"/>
            </a:avLst>
          </a:prstGeom>
          <a:solidFill>
            <a:srgbClr val="FCFBF9"/>
          </a:solidFill>
          <a:ln w="12700">
            <a:solidFill>
              <a:srgbClr val="DDDAD4"/>
            </a:solidFill>
            <a:prstDash val="solid"/>
          </a:ln>
        </p:spPr>
        <p:txBody>
          <a:bodyPr wrap="none" lIns="0" tIns="0" rIns="0" bIns="0" rtlCol="0" anchor="ctr">
            <a:normAutofit/>
          </a:bodyPr>
          <a:lstStyle/>
          <a:p>
            <a:pPr algn="ctr" indent="0" marL="0">
              <a:lnSpc>
                <a:spcPts val="1960"/>
              </a:lnSpc>
              <a:buNone/>
            </a:pPr>
            <a:r>
              <a:rPr lang="en-US" sz="1400" dirty="0">
                <a:solidFill>
                  <a:srgbClr val="23262B"/>
                </a:solidFill>
                <a:latin typeface="IBM Plex Sans" pitchFamily="34" charset="0"/>
                <a:ea typeface="IBM Plex Sans" pitchFamily="34" charset="-122"/>
                <a:cs typeface="IBM Plex Sans" pitchFamily="34" charset="-120"/>
              </a:rPr>
              <a:t>region</a:t>
            </a:r>
            <a:endParaRPr lang="en-US" sz="1400" dirty="0"/>
          </a:p>
        </p:txBody>
      </p:sp>
      <p:sp>
        <p:nvSpPr>
          <p:cNvPr id="12" name="Shape 10"/>
          <p:cNvSpPr/>
          <p:nvPr/>
        </p:nvSpPr>
        <p:spPr>
          <a:xfrm>
            <a:off x="7575550" y="1992561"/>
            <a:ext cx="3797300" cy="2496641"/>
          </a:xfrm>
          <a:prstGeom prst="roundRect">
            <a:avLst>
              <a:gd name="adj" fmla="val 4832"/>
            </a:avLst>
          </a:prstGeom>
          <a:solidFill>
            <a:srgbClr val="FCFBF9"/>
          </a:solidFill>
          <a:ln w="12700">
            <a:solidFill>
              <a:srgbClr val="DDDAD4"/>
            </a:solidFill>
            <a:prstDash val="solid"/>
          </a:ln>
        </p:spPr>
      </p:sp>
      <p:sp>
        <p:nvSpPr>
          <p:cNvPr id="13" name="Text 11"/>
          <p:cNvSpPr/>
          <p:nvPr/>
        </p:nvSpPr>
        <p:spPr>
          <a:xfrm>
            <a:off x="7886700" y="2303711"/>
            <a:ext cx="32702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IBM Plex Sans" pitchFamily="34" charset="0"/>
                <a:ea typeface="IBM Plex Sans" pitchFamily="34" charset="-122"/>
                <a:cs typeface="IBM Plex Sans" pitchFamily="34" charset="-120"/>
              </a:rPr>
              <a:t>Yearly bills in our data range from</a:t>
            </a:r>
            <a:endParaRPr lang="en-US" sz="1200" dirty="0"/>
          </a:p>
        </p:txBody>
      </p:sp>
      <p:sp>
        <p:nvSpPr>
          <p:cNvPr id="14" name="Text 12"/>
          <p:cNvSpPr/>
          <p:nvPr/>
        </p:nvSpPr>
        <p:spPr>
          <a:xfrm>
            <a:off x="7886700" y="2593231"/>
            <a:ext cx="3270250"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3F7350"/>
                </a:solidFill>
                <a:latin typeface="Bricolage Grotesque" pitchFamily="34" charset="0"/>
                <a:ea typeface="Bricolage Grotesque" pitchFamily="34" charset="-122"/>
                <a:cs typeface="Bricolage Grotesque" pitchFamily="34" charset="-120"/>
              </a:rPr>
              <a:t>$1,122</a:t>
            </a:r>
            <a:endParaRPr lang="en-US" sz="3600" dirty="0"/>
          </a:p>
        </p:txBody>
      </p:sp>
      <p:sp>
        <p:nvSpPr>
          <p:cNvPr id="15" name="Text 13"/>
          <p:cNvSpPr/>
          <p:nvPr/>
        </p:nvSpPr>
        <p:spPr>
          <a:xfrm>
            <a:off x="7886700" y="3172321"/>
            <a:ext cx="3270250"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9E4F4F"/>
                </a:solidFill>
                <a:latin typeface="Bricolage Grotesque" pitchFamily="34" charset="0"/>
                <a:ea typeface="Bricolage Grotesque" pitchFamily="34" charset="-122"/>
                <a:cs typeface="Bricolage Grotesque" pitchFamily="34" charset="-120"/>
              </a:rPr>
              <a:t>to $63,770</a:t>
            </a:r>
            <a:endParaRPr lang="en-US" sz="3600" dirty="0"/>
          </a:p>
        </p:txBody>
      </p:sp>
      <p:sp>
        <p:nvSpPr>
          <p:cNvPr id="16" name="Text 14"/>
          <p:cNvSpPr/>
          <p:nvPr/>
        </p:nvSpPr>
        <p:spPr>
          <a:xfrm>
            <a:off x="7886700" y="3751411"/>
            <a:ext cx="32702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IBM Plex Sans" pitchFamily="34" charset="0"/>
                <a:ea typeface="IBM Plex Sans" pitchFamily="34" charset="-122"/>
                <a:cs typeface="IBM Plex Sans" pitchFamily="34" charset="-120"/>
              </a:rPr>
              <a:t>About 57 times more for the most expensive customer than the cheapest.</a:t>
            </a:r>
            <a:endParaRPr lang="en-US" sz="1200" dirty="0"/>
          </a:p>
        </p:txBody>
      </p:sp>
      <p:sp>
        <p:nvSpPr>
          <p:cNvPr id="17" name="Text 1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IBM Plex Sans" pitchFamily="34" charset="0"/>
                <a:ea typeface="IBM Plex Sans" pitchFamily="34" charset="-122"/>
                <a:cs typeface="IBM Plex Sans" pitchFamily="34" charset="-120"/>
              </a:rPr>
              <a:t>Group 5 · Decision Tree Regression</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078"/>
                </a:solidFill>
                <a:latin typeface="IBM Plex Sans" pitchFamily="34" charset="0"/>
                <a:ea typeface="IBM Plex Sans" pitchFamily="34" charset="-122"/>
                <a:cs typeface="IBM Plex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4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F"/>
                </a:solidFill>
                <a:latin typeface="IBM Plex Sans" pitchFamily="34" charset="0"/>
                <a:ea typeface="IBM Plex Sans" pitchFamily="34" charset="-122"/>
                <a:cs typeface="IBM Plex Sans" pitchFamily="34" charset="-120"/>
              </a:rPr>
              <a:t>THE DATA</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23262B"/>
                </a:solidFill>
                <a:latin typeface="Bricolage Grotesque" pitchFamily="34" charset="0"/>
                <a:ea typeface="Bricolage Grotesque" pitchFamily="34" charset="-122"/>
                <a:cs typeface="Bricolage Grotesque" pitchFamily="34" charset="-120"/>
              </a:rPr>
              <a:t>Six facts in, one bill out</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111"/>
          <a:ext cx="7353300" cy="3088084"/>
        </p:xfrm>
        <a:graphic>
          <a:graphicData uri="http://schemas.openxmlformats.org/drawingml/2006/table">
            <a:tbl>
              <a:tblPr/>
              <a:tblGrid>
                <a:gridCol w="1911858"/>
                <a:gridCol w="2205990"/>
                <a:gridCol w="1911858"/>
                <a:gridCol w="1323594"/>
              </a:tblGrid>
              <a:tr h="386011">
                <a:tc>
                  <a:txBody>
                    <a:bodyPr/>
                    <a:lstStyle/>
                    <a:p>
                      <a:pPr indent="0" marL="0">
                        <a:lnSpc>
                          <a:spcPts val="1960"/>
                        </a:lnSpc>
                        <a:buNone/>
                      </a:pPr>
                      <a:r>
                        <a:rPr lang="en-US" sz="1400" b="1" dirty="0">
                          <a:solidFill>
                            <a:srgbClr val="23262B"/>
                          </a:solidFill>
                          <a:latin typeface="IBM Plex Sans" pitchFamily="34" charset="0"/>
                          <a:ea typeface="IBM Plex Sans" pitchFamily="34" charset="-122"/>
                          <a:cs typeface="IBM Plex Sans" pitchFamily="34" charset="-120"/>
                        </a:rPr>
                        <a:t>Column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C0"/>
                      </a:solidFill>
                      <a:prstDash val="solid"/>
                      <a:round/>
                      <a:headEnd type="none" w="med" len="med"/>
                      <a:tailEnd type="none" w="med" len="med"/>
                    </a:lnL>
                    <a:lnR w="12700" cap="flat" cmpd="sng" algn="ctr">
                      <a:solidFill>
                        <a:srgbClr val="B5B5B2"/>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B5B5B2"/>
                      </a:solidFill>
                      <a:prstDash val="solid"/>
                      <a:round/>
                      <a:headEnd type="none" w="med" len="med"/>
                      <a:tailEnd type="none" w="med" len="med"/>
                    </a:lnB>
                    <a:solidFill>
                      <a:srgbClr val="E3E2DF"/>
                    </a:solidFill>
                  </a:tcPr>
                </a:tc>
                <a:tc>
                  <a:txBody>
                    <a:bodyPr/>
                    <a:lstStyle/>
                    <a:p>
                      <a:pPr indent="0" marL="0">
                        <a:lnSpc>
                          <a:spcPts val="1960"/>
                        </a:lnSpc>
                        <a:buNone/>
                      </a:pPr>
                      <a:r>
                        <a:rPr lang="en-US" sz="1400" b="1" dirty="0">
                          <a:solidFill>
                            <a:srgbClr val="23262B"/>
                          </a:solidFill>
                          <a:latin typeface="IBM Plex Sans" pitchFamily="34" charset="0"/>
                          <a:ea typeface="IBM Plex Sans" pitchFamily="34" charset="-122"/>
                          <a:cs typeface="IBM Plex Sans" pitchFamily="34" charset="-120"/>
                        </a:rPr>
                        <a:t>Type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5B2"/>
                      </a:solidFill>
                      <a:prstDash val="solid"/>
                      <a:round/>
                      <a:headEnd type="none" w="med" len="med"/>
                      <a:tailEnd type="none" w="med" len="med"/>
                    </a:lnL>
                    <a:lnR w="12700" cap="flat" cmpd="sng" algn="ctr">
                      <a:solidFill>
                        <a:srgbClr val="B5B5B2"/>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B5B5B2"/>
                      </a:solidFill>
                      <a:prstDash val="solid"/>
                      <a:round/>
                      <a:headEnd type="none" w="med" len="med"/>
                      <a:tailEnd type="none" w="med" len="med"/>
                    </a:lnB>
                    <a:solidFill>
                      <a:srgbClr val="E3E2DF"/>
                    </a:solidFill>
                  </a:tcPr>
                </a:tc>
                <a:tc>
                  <a:txBody>
                    <a:bodyPr/>
                    <a:lstStyle/>
                    <a:p>
                      <a:pPr indent="0" marL="0">
                        <a:lnSpc>
                          <a:spcPts val="1960"/>
                        </a:lnSpc>
                        <a:buNone/>
                      </a:pPr>
                      <a:r>
                        <a:rPr lang="en-US" sz="1400" b="1" dirty="0">
                          <a:solidFill>
                            <a:srgbClr val="23262B"/>
                          </a:solidFill>
                          <a:latin typeface="IBM Plex Sans" pitchFamily="34" charset="0"/>
                          <a:ea typeface="IBM Plex Sans" pitchFamily="34" charset="-122"/>
                          <a:cs typeface="IBM Plex Sans" pitchFamily="34" charset="-120"/>
                        </a:rPr>
                        <a:t>Example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5B2"/>
                      </a:solidFill>
                      <a:prstDash val="solid"/>
                      <a:round/>
                      <a:headEnd type="none" w="med" len="med"/>
                      <a:tailEnd type="none" w="med" len="med"/>
                    </a:lnL>
                    <a:lnR w="12700" cap="flat" cmpd="sng" algn="ctr">
                      <a:solidFill>
                        <a:srgbClr val="B5B5B2"/>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B5B5B2"/>
                      </a:solidFill>
                      <a:prstDash val="solid"/>
                      <a:round/>
                      <a:headEnd type="none" w="med" len="med"/>
                      <a:tailEnd type="none" w="med" len="med"/>
                    </a:lnB>
                    <a:solidFill>
                      <a:srgbClr val="E3E2DF"/>
                    </a:solidFill>
                  </a:tcPr>
                </a:tc>
                <a:tc>
                  <a:txBody>
                    <a:bodyPr/>
                    <a:lstStyle/>
                    <a:p>
                      <a:pPr indent="0" marL="0">
                        <a:lnSpc>
                          <a:spcPts val="1960"/>
                        </a:lnSpc>
                        <a:buNone/>
                      </a:pPr>
                      <a:r>
                        <a:rPr lang="en-US" sz="1400" b="1" dirty="0">
                          <a:solidFill>
                            <a:srgbClr val="23262B"/>
                          </a:solidFill>
                          <a:latin typeface="IBM Plex Sans" pitchFamily="34" charset="0"/>
                          <a:ea typeface="IBM Plex Sans" pitchFamily="34" charset="-122"/>
                          <a:cs typeface="IBM Plex Sans" pitchFamily="34" charset="-120"/>
                        </a:rPr>
                        <a:t>Role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5B2"/>
                      </a:solidFill>
                      <a:prstDash val="solid"/>
                      <a:round/>
                      <a:headEnd type="none" w="med" len="med"/>
                      <a:tailEnd type="none" w="med" len="med"/>
                    </a:lnL>
                    <a:lnR w="12700" cap="flat" cmpd="sng" algn="ctr">
                      <a:solidFill>
                        <a:srgbClr val="B5B5B2"/>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B5B5B2"/>
                      </a:solidFill>
                      <a:prstDash val="solid"/>
                      <a:round/>
                      <a:headEnd type="none" w="med" len="med"/>
                      <a:tailEnd type="none" w="med" len="med"/>
                    </a:lnB>
                    <a:solidFill>
                      <a:srgbClr val="E3E2DF"/>
                    </a:solidFill>
                  </a:tcPr>
                </a:tc>
              </a:tr>
              <a:tr h="386011">
                <a:tc>
                  <a:txBody>
                    <a:bodyPr/>
                    <a:lstStyle/>
                    <a:p>
                      <a:pPr indent="0" marL="0">
                        <a:lnSpc>
                          <a:spcPts val="1960"/>
                        </a:lnSpc>
                        <a:buNone/>
                      </a:pPr>
                      <a:r>
                        <a:rPr lang="en-US" sz="1400" dirty="0">
                          <a:solidFill>
                            <a:srgbClr val="23262B"/>
                          </a:solidFill>
                          <a:latin typeface="IBM Plex Sans" pitchFamily="34" charset="0"/>
                          <a:ea typeface="IBM Plex Sans" pitchFamily="34" charset="-122"/>
                          <a:cs typeface="IBM Plex Sans" pitchFamily="34" charset="-120"/>
                        </a:rPr>
                        <a:t>age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B5B5B2"/>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c>
                  <a:txBody>
                    <a:bodyPr/>
                    <a:lstStyle/>
                    <a:p>
                      <a:pPr indent="0" marL="0">
                        <a:lnSpc>
                          <a:spcPts val="1960"/>
                        </a:lnSpc>
                        <a:buNone/>
                      </a:pPr>
                      <a:r>
                        <a:rPr lang="en-US" sz="1400" dirty="0">
                          <a:solidFill>
                            <a:srgbClr val="23262B"/>
                          </a:solidFill>
                          <a:latin typeface="IBM Plex Sans" pitchFamily="34" charset="0"/>
                          <a:ea typeface="IBM Plex Sans" pitchFamily="34" charset="-122"/>
                          <a:cs typeface="IBM Plex Sans" pitchFamily="34" charset="-120"/>
                        </a:rPr>
                        <a:t>number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B5B5B2"/>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c>
                  <a:txBody>
                    <a:bodyPr/>
                    <a:lstStyle/>
                    <a:p>
                      <a:pPr indent="0" marL="0">
                        <a:lnSpc>
                          <a:spcPts val="1960"/>
                        </a:lnSpc>
                        <a:buNone/>
                      </a:pPr>
                      <a:r>
                        <a:rPr lang="en-US" sz="1400" dirty="0">
                          <a:solidFill>
                            <a:srgbClr val="23262B"/>
                          </a:solidFill>
                          <a:latin typeface="IBM Plex Sans" pitchFamily="34" charset="0"/>
                          <a:ea typeface="IBM Plex Sans" pitchFamily="34" charset="-122"/>
                          <a:cs typeface="IBM Plex Sans" pitchFamily="34" charset="-120"/>
                        </a:rPr>
                        <a:t>19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B5B5B2"/>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c>
                  <a:txBody>
                    <a:bodyPr/>
                    <a:lstStyle/>
                    <a:p>
                      <a:pPr indent="0" marL="0">
                        <a:lnSpc>
                          <a:spcPts val="1960"/>
                        </a:lnSpc>
                        <a:buNone/>
                      </a:pPr>
                      <a:r>
                        <a:rPr lang="en-US" sz="1400" dirty="0">
                          <a:solidFill>
                            <a:srgbClr val="23262B"/>
                          </a:solidFill>
                          <a:latin typeface="IBM Plex Sans" pitchFamily="34" charset="0"/>
                          <a:ea typeface="IBM Plex Sans" pitchFamily="34" charset="-122"/>
                          <a:cs typeface="IBM Plex Sans" pitchFamily="34" charset="-120"/>
                        </a:rPr>
                        <a:t>input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B5B5B2"/>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r>
              <a:tr h="386011">
                <a:tc>
                  <a:txBody>
                    <a:bodyPr/>
                    <a:lstStyle/>
                    <a:p>
                      <a:pPr indent="0" marL="0">
                        <a:lnSpc>
                          <a:spcPts val="1960"/>
                        </a:lnSpc>
                        <a:buNone/>
                      </a:pPr>
                      <a:r>
                        <a:rPr lang="en-US" sz="1400" dirty="0">
                          <a:solidFill>
                            <a:srgbClr val="23262B"/>
                          </a:solidFill>
                          <a:latin typeface="IBM Plex Sans" pitchFamily="34" charset="0"/>
                          <a:ea typeface="IBM Plex Sans" pitchFamily="34" charset="-122"/>
                          <a:cs typeface="IBM Plex Sans" pitchFamily="34" charset="-120"/>
                        </a:rPr>
                        <a:t>sex</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c>
                  <a:txBody>
                    <a:bodyPr/>
                    <a:lstStyle/>
                    <a:p>
                      <a:pPr indent="0" marL="0">
                        <a:lnSpc>
                          <a:spcPts val="1960"/>
                        </a:lnSpc>
                        <a:buNone/>
                      </a:pPr>
                      <a:r>
                        <a:rPr lang="en-US" sz="1400" dirty="0">
                          <a:solidFill>
                            <a:srgbClr val="23262B"/>
                          </a:solidFill>
                          <a:latin typeface="IBM Plex Sans" pitchFamily="34" charset="0"/>
                          <a:ea typeface="IBM Plex Sans" pitchFamily="34" charset="-122"/>
                          <a:cs typeface="IBM Plex Sans" pitchFamily="34" charset="-120"/>
                        </a:rPr>
                        <a:t>category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c>
                  <a:txBody>
                    <a:bodyPr/>
                    <a:lstStyle/>
                    <a:p>
                      <a:pPr indent="0" marL="0">
                        <a:lnSpc>
                          <a:spcPts val="1960"/>
                        </a:lnSpc>
                        <a:buNone/>
                      </a:pPr>
                      <a:r>
                        <a:rPr lang="en-US" sz="1400" dirty="0">
                          <a:solidFill>
                            <a:srgbClr val="23262B"/>
                          </a:solidFill>
                          <a:latin typeface="IBM Plex Sans" pitchFamily="34" charset="0"/>
                          <a:ea typeface="IBM Plex Sans" pitchFamily="34" charset="-122"/>
                          <a:cs typeface="IBM Plex Sans" pitchFamily="34" charset="-120"/>
                        </a:rPr>
                        <a:t>female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c>
                  <a:txBody>
                    <a:bodyPr/>
                    <a:lstStyle/>
                    <a:p>
                      <a:pPr indent="0" marL="0">
                        <a:lnSpc>
                          <a:spcPts val="1960"/>
                        </a:lnSpc>
                        <a:buNone/>
                      </a:pPr>
                      <a:r>
                        <a:rPr lang="en-US" sz="1400" dirty="0">
                          <a:solidFill>
                            <a:srgbClr val="23262B"/>
                          </a:solidFill>
                          <a:latin typeface="IBM Plex Sans" pitchFamily="34" charset="0"/>
                          <a:ea typeface="IBM Plex Sans" pitchFamily="34" charset="-122"/>
                          <a:cs typeface="IBM Plex Sans" pitchFamily="34" charset="-120"/>
                        </a:rPr>
                        <a:t>input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r>
              <a:tr h="386011">
                <a:tc>
                  <a:txBody>
                    <a:bodyPr/>
                    <a:lstStyle/>
                    <a:p>
                      <a:pPr indent="0" marL="0">
                        <a:lnSpc>
                          <a:spcPts val="1960"/>
                        </a:lnSpc>
                        <a:buNone/>
                      </a:pPr>
                      <a:r>
                        <a:rPr lang="en-US" sz="1400" dirty="0">
                          <a:solidFill>
                            <a:srgbClr val="23262B"/>
                          </a:solidFill>
                          <a:latin typeface="IBM Plex Sans" pitchFamily="34" charset="0"/>
                          <a:ea typeface="IBM Plex Sans" pitchFamily="34" charset="-122"/>
                          <a:cs typeface="IBM Plex Sans" pitchFamily="34" charset="-120"/>
                        </a:rPr>
                        <a:t>bmi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c>
                  <a:txBody>
                    <a:bodyPr/>
                    <a:lstStyle/>
                    <a:p>
                      <a:pPr indent="0" marL="0">
                        <a:lnSpc>
                          <a:spcPts val="1960"/>
                        </a:lnSpc>
                        <a:buNone/>
                      </a:pPr>
                      <a:r>
                        <a:rPr lang="en-US" sz="1400" dirty="0">
                          <a:solidFill>
                            <a:srgbClr val="23262B"/>
                          </a:solidFill>
                          <a:latin typeface="IBM Plex Sans" pitchFamily="34" charset="0"/>
                          <a:ea typeface="IBM Plex Sans" pitchFamily="34" charset="-122"/>
                          <a:cs typeface="IBM Plex Sans" pitchFamily="34" charset="-120"/>
                        </a:rPr>
                        <a:t>number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c>
                  <a:txBody>
                    <a:bodyPr/>
                    <a:lstStyle/>
                    <a:p>
                      <a:pPr indent="0" marL="0">
                        <a:lnSpc>
                          <a:spcPts val="1960"/>
                        </a:lnSpc>
                        <a:buNone/>
                      </a:pPr>
                      <a:r>
                        <a:rPr lang="en-US" sz="1400" dirty="0">
                          <a:solidFill>
                            <a:srgbClr val="23262B"/>
                          </a:solidFill>
                          <a:latin typeface="IBM Plex Sans" pitchFamily="34" charset="0"/>
                          <a:ea typeface="IBM Plex Sans" pitchFamily="34" charset="-122"/>
                          <a:cs typeface="IBM Plex Sans" pitchFamily="34" charset="-120"/>
                        </a:rPr>
                        <a:t>27.9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c>
                  <a:txBody>
                    <a:bodyPr/>
                    <a:lstStyle/>
                    <a:p>
                      <a:pPr indent="0" marL="0">
                        <a:lnSpc>
                          <a:spcPts val="1960"/>
                        </a:lnSpc>
                        <a:buNone/>
                      </a:pPr>
                      <a:r>
                        <a:rPr lang="en-US" sz="1400" dirty="0">
                          <a:solidFill>
                            <a:srgbClr val="23262B"/>
                          </a:solidFill>
                          <a:latin typeface="IBM Plex Sans" pitchFamily="34" charset="0"/>
                          <a:ea typeface="IBM Plex Sans" pitchFamily="34" charset="-122"/>
                          <a:cs typeface="IBM Plex Sans" pitchFamily="34" charset="-120"/>
                        </a:rPr>
                        <a:t>input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r>
              <a:tr h="386011">
                <a:tc>
                  <a:txBody>
                    <a:bodyPr/>
                    <a:lstStyle/>
                    <a:p>
                      <a:pPr indent="0" marL="0">
                        <a:lnSpc>
                          <a:spcPts val="1960"/>
                        </a:lnSpc>
                        <a:buNone/>
                      </a:pPr>
                      <a:r>
                        <a:rPr lang="en-US" sz="1400" dirty="0">
                          <a:solidFill>
                            <a:srgbClr val="23262B"/>
                          </a:solidFill>
                          <a:latin typeface="IBM Plex Sans" pitchFamily="34" charset="0"/>
                          <a:ea typeface="IBM Plex Sans" pitchFamily="34" charset="-122"/>
                          <a:cs typeface="IBM Plex Sans" pitchFamily="34" charset="-120"/>
                        </a:rPr>
                        <a:t>children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c>
                  <a:txBody>
                    <a:bodyPr/>
                    <a:lstStyle/>
                    <a:p>
                      <a:pPr indent="0" marL="0">
                        <a:lnSpc>
                          <a:spcPts val="1960"/>
                        </a:lnSpc>
                        <a:buNone/>
                      </a:pPr>
                      <a:r>
                        <a:rPr lang="en-US" sz="1400" dirty="0">
                          <a:solidFill>
                            <a:srgbClr val="23262B"/>
                          </a:solidFill>
                          <a:latin typeface="IBM Plex Sans" pitchFamily="34" charset="0"/>
                          <a:ea typeface="IBM Plex Sans" pitchFamily="34" charset="-122"/>
                          <a:cs typeface="IBM Plex Sans" pitchFamily="34" charset="-120"/>
                        </a:rPr>
                        <a:t>number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c>
                  <a:txBody>
                    <a:bodyPr/>
                    <a:lstStyle/>
                    <a:p>
                      <a:pPr indent="0" marL="0">
                        <a:lnSpc>
                          <a:spcPts val="1960"/>
                        </a:lnSpc>
                        <a:buNone/>
                      </a:pPr>
                      <a:r>
                        <a:rPr lang="en-US" sz="1400" dirty="0">
                          <a:solidFill>
                            <a:srgbClr val="23262B"/>
                          </a:solidFill>
                          <a:latin typeface="IBM Plex Sans" pitchFamily="34" charset="0"/>
                          <a:ea typeface="IBM Plex Sans" pitchFamily="34" charset="-122"/>
                          <a:cs typeface="IBM Plex Sans" pitchFamily="34" charset="-120"/>
                        </a:rPr>
                        <a:t>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c>
                  <a:txBody>
                    <a:bodyPr/>
                    <a:lstStyle/>
                    <a:p>
                      <a:pPr indent="0" marL="0">
                        <a:lnSpc>
                          <a:spcPts val="1960"/>
                        </a:lnSpc>
                        <a:buNone/>
                      </a:pPr>
                      <a:r>
                        <a:rPr lang="en-US" sz="1400" dirty="0">
                          <a:solidFill>
                            <a:srgbClr val="23262B"/>
                          </a:solidFill>
                          <a:latin typeface="IBM Plex Sans" pitchFamily="34" charset="0"/>
                          <a:ea typeface="IBM Plex Sans" pitchFamily="34" charset="-122"/>
                          <a:cs typeface="IBM Plex Sans" pitchFamily="34" charset="-120"/>
                        </a:rPr>
                        <a:t>input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r>
              <a:tr h="386011">
                <a:tc>
                  <a:txBody>
                    <a:bodyPr/>
                    <a:lstStyle/>
                    <a:p>
                      <a:pPr indent="0" marL="0">
                        <a:lnSpc>
                          <a:spcPts val="1960"/>
                        </a:lnSpc>
                        <a:buNone/>
                      </a:pPr>
                      <a:r>
                        <a:rPr lang="en-US" sz="1400" dirty="0">
                          <a:solidFill>
                            <a:srgbClr val="23262B"/>
                          </a:solidFill>
                          <a:latin typeface="IBM Plex Sans" pitchFamily="34" charset="0"/>
                          <a:ea typeface="IBM Plex Sans" pitchFamily="34" charset="-122"/>
                          <a:cs typeface="IBM Plex Sans" pitchFamily="34" charset="-120"/>
                        </a:rPr>
                        <a:t>smoker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c>
                  <a:txBody>
                    <a:bodyPr/>
                    <a:lstStyle/>
                    <a:p>
                      <a:pPr indent="0" marL="0">
                        <a:lnSpc>
                          <a:spcPts val="1960"/>
                        </a:lnSpc>
                        <a:buNone/>
                      </a:pPr>
                      <a:r>
                        <a:rPr lang="en-US" sz="1400" dirty="0">
                          <a:solidFill>
                            <a:srgbClr val="23262B"/>
                          </a:solidFill>
                          <a:latin typeface="IBM Plex Sans" pitchFamily="34" charset="0"/>
                          <a:ea typeface="IBM Plex Sans" pitchFamily="34" charset="-122"/>
                          <a:cs typeface="IBM Plex Sans" pitchFamily="34" charset="-120"/>
                        </a:rPr>
                        <a:t>category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c>
                  <a:txBody>
                    <a:bodyPr/>
                    <a:lstStyle/>
                    <a:p>
                      <a:pPr indent="0" marL="0">
                        <a:lnSpc>
                          <a:spcPts val="1960"/>
                        </a:lnSpc>
                        <a:buNone/>
                      </a:pPr>
                      <a:r>
                        <a:rPr lang="en-US" sz="1400" dirty="0">
                          <a:solidFill>
                            <a:srgbClr val="23262B"/>
                          </a:solidFill>
                          <a:latin typeface="IBM Plex Sans" pitchFamily="34" charset="0"/>
                          <a:ea typeface="IBM Plex Sans" pitchFamily="34" charset="-122"/>
                          <a:cs typeface="IBM Plex Sans" pitchFamily="34" charset="-120"/>
                        </a:rPr>
                        <a:t>yes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c>
                  <a:txBody>
                    <a:bodyPr/>
                    <a:lstStyle/>
                    <a:p>
                      <a:pPr indent="0" marL="0">
                        <a:lnSpc>
                          <a:spcPts val="1960"/>
                        </a:lnSpc>
                        <a:buNone/>
                      </a:pPr>
                      <a:r>
                        <a:rPr lang="en-US" sz="1400" dirty="0">
                          <a:solidFill>
                            <a:srgbClr val="23262B"/>
                          </a:solidFill>
                          <a:latin typeface="IBM Plex Sans" pitchFamily="34" charset="0"/>
                          <a:ea typeface="IBM Plex Sans" pitchFamily="34" charset="-122"/>
                          <a:cs typeface="IBM Plex Sans" pitchFamily="34" charset="-120"/>
                        </a:rPr>
                        <a:t>input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r>
              <a:tr h="386011">
                <a:tc>
                  <a:txBody>
                    <a:bodyPr/>
                    <a:lstStyle/>
                    <a:p>
                      <a:pPr indent="0" marL="0">
                        <a:lnSpc>
                          <a:spcPts val="1960"/>
                        </a:lnSpc>
                        <a:buNone/>
                      </a:pPr>
                      <a:r>
                        <a:rPr lang="en-US" sz="1400" dirty="0">
                          <a:solidFill>
                            <a:srgbClr val="23262B"/>
                          </a:solidFill>
                          <a:latin typeface="IBM Plex Sans" pitchFamily="34" charset="0"/>
                          <a:ea typeface="IBM Plex Sans" pitchFamily="34" charset="-122"/>
                          <a:cs typeface="IBM Plex Sans" pitchFamily="34" charset="-120"/>
                        </a:rPr>
                        <a:t>region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c>
                  <a:txBody>
                    <a:bodyPr/>
                    <a:lstStyle/>
                    <a:p>
                      <a:pPr indent="0" marL="0">
                        <a:lnSpc>
                          <a:spcPts val="1960"/>
                        </a:lnSpc>
                        <a:buNone/>
                      </a:pPr>
                      <a:r>
                        <a:rPr lang="en-US" sz="1400" dirty="0">
                          <a:solidFill>
                            <a:srgbClr val="23262B"/>
                          </a:solidFill>
                          <a:latin typeface="IBM Plex Sans" pitchFamily="34" charset="0"/>
                          <a:ea typeface="IBM Plex Sans" pitchFamily="34" charset="-122"/>
                          <a:cs typeface="IBM Plex Sans" pitchFamily="34" charset="-120"/>
                        </a:rPr>
                        <a:t>category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c>
                  <a:txBody>
                    <a:bodyPr/>
                    <a:lstStyle/>
                    <a:p>
                      <a:pPr indent="0" marL="0">
                        <a:lnSpc>
                          <a:spcPts val="1960"/>
                        </a:lnSpc>
                        <a:buNone/>
                      </a:pPr>
                      <a:r>
                        <a:rPr lang="en-US" sz="1400" dirty="0">
                          <a:solidFill>
                            <a:srgbClr val="23262B"/>
                          </a:solidFill>
                          <a:latin typeface="IBM Plex Sans" pitchFamily="34" charset="0"/>
                          <a:ea typeface="IBM Plex Sans" pitchFamily="34" charset="-122"/>
                          <a:cs typeface="IBM Plex Sans" pitchFamily="34" charset="-120"/>
                        </a:rPr>
                        <a:t>southwest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c>
                  <a:txBody>
                    <a:bodyPr/>
                    <a:lstStyle/>
                    <a:p>
                      <a:pPr indent="0" marL="0">
                        <a:lnSpc>
                          <a:spcPts val="1960"/>
                        </a:lnSpc>
                        <a:buNone/>
                      </a:pPr>
                      <a:r>
                        <a:rPr lang="en-US" sz="1400" dirty="0">
                          <a:solidFill>
                            <a:srgbClr val="23262B"/>
                          </a:solidFill>
                          <a:latin typeface="IBM Plex Sans" pitchFamily="34" charset="0"/>
                          <a:ea typeface="IBM Plex Sans" pitchFamily="34" charset="-122"/>
                          <a:cs typeface="IBM Plex Sans" pitchFamily="34" charset="-120"/>
                        </a:rPr>
                        <a:t>input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r>
              <a:tr h="386011">
                <a:tc>
                  <a:txBody>
                    <a:bodyPr/>
                    <a:lstStyle/>
                    <a:p>
                      <a:pPr indent="0" marL="0">
                        <a:lnSpc>
                          <a:spcPts val="1960"/>
                        </a:lnSpc>
                        <a:buNone/>
                      </a:pPr>
                      <a:r>
                        <a:rPr lang="en-US" sz="1400" dirty="0">
                          <a:solidFill>
                            <a:srgbClr val="23262B"/>
                          </a:solidFill>
                          <a:latin typeface="IBM Plex Sans" pitchFamily="34" charset="0"/>
                          <a:ea typeface="IBM Plex Sans" pitchFamily="34" charset="-122"/>
                          <a:cs typeface="IBM Plex Sans" pitchFamily="34" charset="-120"/>
                        </a:rPr>
                        <a:t>expenses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C0"/>
                      </a:solidFill>
                      <a:prstDash val="solid"/>
                      <a:round/>
                      <a:headEnd type="none" w="med" len="med"/>
                      <a:tailEnd type="none" w="med" len="med"/>
                    </a:lnL>
                    <a:lnR w="12700" cap="flat" cmpd="sng" algn="ctr">
                      <a:solidFill>
                        <a:srgbClr val="C0B9A6"/>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0B9A6"/>
                      </a:solidFill>
                      <a:prstDash val="solid"/>
                      <a:round/>
                      <a:headEnd type="none" w="med" len="med"/>
                      <a:tailEnd type="none" w="med" len="med"/>
                    </a:lnB>
                    <a:solidFill>
                      <a:srgbClr val="F1E7CF"/>
                    </a:solidFill>
                  </a:tcPr>
                </a:tc>
                <a:tc>
                  <a:txBody>
                    <a:bodyPr/>
                    <a:lstStyle/>
                    <a:p>
                      <a:pPr indent="0" marL="0">
                        <a:lnSpc>
                          <a:spcPts val="1960"/>
                        </a:lnSpc>
                        <a:buNone/>
                      </a:pPr>
                      <a:r>
                        <a:rPr lang="en-US" sz="1400" dirty="0">
                          <a:solidFill>
                            <a:srgbClr val="23262B"/>
                          </a:solidFill>
                          <a:latin typeface="IBM Plex Sans" pitchFamily="34" charset="0"/>
                          <a:ea typeface="IBM Plex Sans" pitchFamily="34" charset="-122"/>
                          <a:cs typeface="IBM Plex Sans" pitchFamily="34" charset="-120"/>
                        </a:rPr>
                        <a:t>dollars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9A6"/>
                      </a:solidFill>
                      <a:prstDash val="solid"/>
                      <a:round/>
                      <a:headEnd type="none" w="med" len="med"/>
                      <a:tailEnd type="none" w="med" len="med"/>
                    </a:lnL>
                    <a:lnR w="12700" cap="flat" cmpd="sng" algn="ctr">
                      <a:solidFill>
                        <a:srgbClr val="C0B9A6"/>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0B9A6"/>
                      </a:solidFill>
                      <a:prstDash val="solid"/>
                      <a:round/>
                      <a:headEnd type="none" w="med" len="med"/>
                      <a:tailEnd type="none" w="med" len="med"/>
                    </a:lnB>
                    <a:solidFill>
                      <a:srgbClr val="F1E7CF"/>
                    </a:solidFill>
                  </a:tcPr>
                </a:tc>
                <a:tc>
                  <a:txBody>
                    <a:bodyPr/>
                    <a:lstStyle/>
                    <a:p>
                      <a:pPr indent="0" marL="0">
                        <a:lnSpc>
                          <a:spcPts val="1960"/>
                        </a:lnSpc>
                        <a:buNone/>
                      </a:pPr>
                      <a:r>
                        <a:rPr lang="en-US" sz="1400" dirty="0">
                          <a:solidFill>
                            <a:srgbClr val="23262B"/>
                          </a:solidFill>
                          <a:latin typeface="IBM Plex Sans" pitchFamily="34" charset="0"/>
                          <a:ea typeface="IBM Plex Sans" pitchFamily="34" charset="-122"/>
                          <a:cs typeface="IBM Plex Sans" pitchFamily="34" charset="-120"/>
                        </a:rPr>
                        <a:t>16,884.92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9A6"/>
                      </a:solidFill>
                      <a:prstDash val="solid"/>
                      <a:round/>
                      <a:headEnd type="none" w="med" len="med"/>
                      <a:tailEnd type="none" w="med" len="med"/>
                    </a:lnL>
                    <a:lnR w="12700" cap="flat" cmpd="sng" algn="ctr">
                      <a:solidFill>
                        <a:srgbClr val="C0B9A6"/>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0B9A6"/>
                      </a:solidFill>
                      <a:prstDash val="solid"/>
                      <a:round/>
                      <a:headEnd type="none" w="med" len="med"/>
                      <a:tailEnd type="none" w="med" len="med"/>
                    </a:lnB>
                    <a:solidFill>
                      <a:srgbClr val="F1E7CF"/>
                    </a:solidFill>
                  </a:tcPr>
                </a:tc>
                <a:tc>
                  <a:txBody>
                    <a:bodyPr/>
                    <a:lstStyle/>
                    <a:p>
                      <a:pPr indent="0" marL="0">
                        <a:lnSpc>
                          <a:spcPts val="1960"/>
                        </a:lnSpc>
                        <a:buNone/>
                      </a:pPr>
                      <a:r>
                        <a:rPr lang="en-US" sz="1400" dirty="0">
                          <a:solidFill>
                            <a:srgbClr val="23262B"/>
                          </a:solidFill>
                          <a:latin typeface="IBM Plex Sans" pitchFamily="34" charset="0"/>
                          <a:ea typeface="IBM Plex Sans" pitchFamily="34" charset="-122"/>
                          <a:cs typeface="IBM Plex Sans" pitchFamily="34" charset="-120"/>
                        </a:rPr>
                        <a:t>target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9A6"/>
                      </a:solidFill>
                      <a:prstDash val="solid"/>
                      <a:round/>
                      <a:headEnd type="none" w="med" len="med"/>
                      <a:tailEnd type="none" w="med" len="med"/>
                    </a:lnL>
                    <a:lnR w="12700" cap="flat" cmpd="sng" algn="ctr">
                      <a:solidFill>
                        <a:srgbClr val="C0B9A6"/>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0B9A6"/>
                      </a:solidFill>
                      <a:prstDash val="solid"/>
                      <a:round/>
                      <a:headEnd type="none" w="med" len="med"/>
                      <a:tailEnd type="none" w="med" len="med"/>
                    </a:lnB>
                    <a:solidFill>
                      <a:srgbClr val="F1E7CF"/>
                    </a:solidFill>
                  </a:tcPr>
                </a:tc>
              </a:tr>
            </a:tbl>
          </a:graphicData>
        </a:graphic>
      </p:graphicFrame>
      <p:sp>
        <p:nvSpPr>
          <p:cNvPr id="5" name="Text 2"/>
          <p:cNvSpPr/>
          <p:nvPr/>
        </p:nvSpPr>
        <p:spPr>
          <a:xfrm>
            <a:off x="8585200" y="1935411"/>
            <a:ext cx="2877820" cy="505420"/>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23262B"/>
                </a:solidFill>
                <a:latin typeface="Bricolage Grotesque" pitchFamily="34" charset="0"/>
                <a:ea typeface="Bricolage Grotesque" pitchFamily="34" charset="-122"/>
                <a:cs typeface="Bricolage Grotesque" pitchFamily="34" charset="-120"/>
              </a:rPr>
              <a:t>1,338</a:t>
            </a:r>
            <a:endParaRPr lang="en-US" sz="3600" dirty="0"/>
          </a:p>
        </p:txBody>
      </p:sp>
      <p:sp>
        <p:nvSpPr>
          <p:cNvPr id="6" name="Text 3"/>
          <p:cNvSpPr/>
          <p:nvPr/>
        </p:nvSpPr>
        <p:spPr>
          <a:xfrm>
            <a:off x="8585200" y="2440831"/>
            <a:ext cx="28778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IBM Plex Sans" pitchFamily="34" charset="0"/>
                <a:ea typeface="IBM Plex Sans" pitchFamily="34" charset="-122"/>
                <a:cs typeface="IBM Plex Sans" pitchFamily="34" charset="-120"/>
              </a:rPr>
              <a:t>customers in the raw file</a:t>
            </a:r>
            <a:endParaRPr lang="en-US" sz="1200" dirty="0"/>
          </a:p>
        </p:txBody>
      </p:sp>
      <p:sp>
        <p:nvSpPr>
          <p:cNvPr id="7" name="Text 4"/>
          <p:cNvSpPr/>
          <p:nvPr/>
        </p:nvSpPr>
        <p:spPr>
          <a:xfrm>
            <a:off x="8585200" y="2831951"/>
            <a:ext cx="2877820" cy="505420"/>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23262B"/>
                </a:solidFill>
                <a:latin typeface="Bricolage Grotesque" pitchFamily="34" charset="0"/>
                <a:ea typeface="Bricolage Grotesque" pitchFamily="34" charset="-122"/>
                <a:cs typeface="Bricolage Grotesque" pitchFamily="34" charset="-120"/>
              </a:rPr>
              <a:t>0</a:t>
            </a:r>
            <a:endParaRPr lang="en-US" sz="3600" dirty="0"/>
          </a:p>
        </p:txBody>
      </p:sp>
      <p:sp>
        <p:nvSpPr>
          <p:cNvPr id="8" name="Text 5"/>
          <p:cNvSpPr/>
          <p:nvPr/>
        </p:nvSpPr>
        <p:spPr>
          <a:xfrm>
            <a:off x="8585200" y="3337371"/>
            <a:ext cx="28778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IBM Plex Sans" pitchFamily="34" charset="0"/>
                <a:ea typeface="IBM Plex Sans" pitchFamily="34" charset="-122"/>
                <a:cs typeface="IBM Plex Sans" pitchFamily="34" charset="-120"/>
              </a:rPr>
              <a:t>missing values</a:t>
            </a:r>
            <a:endParaRPr lang="en-US" sz="1200" dirty="0"/>
          </a:p>
        </p:txBody>
      </p:sp>
      <p:sp>
        <p:nvSpPr>
          <p:cNvPr id="9" name="Text 6"/>
          <p:cNvSpPr/>
          <p:nvPr/>
        </p:nvSpPr>
        <p:spPr>
          <a:xfrm>
            <a:off x="8585200" y="3728492"/>
            <a:ext cx="2877820" cy="505420"/>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23262B"/>
                </a:solidFill>
                <a:latin typeface="Bricolage Grotesque" pitchFamily="34" charset="0"/>
                <a:ea typeface="Bricolage Grotesque" pitchFamily="34" charset="-122"/>
                <a:cs typeface="Bricolage Grotesque" pitchFamily="34" charset="-120"/>
              </a:rPr>
              <a:t>1</a:t>
            </a:r>
            <a:endParaRPr lang="en-US" sz="3600" dirty="0"/>
          </a:p>
        </p:txBody>
      </p:sp>
      <p:sp>
        <p:nvSpPr>
          <p:cNvPr id="10" name="Text 7"/>
          <p:cNvSpPr/>
          <p:nvPr/>
        </p:nvSpPr>
        <p:spPr>
          <a:xfrm>
            <a:off x="8585200" y="4233912"/>
            <a:ext cx="28778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IBM Plex Sans" pitchFamily="34" charset="0"/>
                <a:ea typeface="IBM Plex Sans" pitchFamily="34" charset="-122"/>
                <a:cs typeface="IBM Plex Sans" pitchFamily="34" charset="-120"/>
              </a:rPr>
              <a:t>duplicate row removed</a:t>
            </a:r>
            <a:endParaRPr lang="en-US" sz="1200" dirty="0"/>
          </a:p>
        </p:txBody>
      </p:sp>
      <p:sp>
        <p:nvSpPr>
          <p:cNvPr id="11" name="Text 8"/>
          <p:cNvSpPr/>
          <p:nvPr/>
        </p:nvSpPr>
        <p:spPr>
          <a:xfrm>
            <a:off x="8585200" y="4625032"/>
            <a:ext cx="2877820" cy="505420"/>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23262B"/>
                </a:solidFill>
                <a:latin typeface="Bricolage Grotesque" pitchFamily="34" charset="0"/>
                <a:ea typeface="Bricolage Grotesque" pitchFamily="34" charset="-122"/>
                <a:cs typeface="Bricolage Grotesque" pitchFamily="34" charset="-120"/>
              </a:rPr>
              <a:t>20%</a:t>
            </a:r>
            <a:endParaRPr lang="en-US" sz="3600" dirty="0"/>
          </a:p>
        </p:txBody>
      </p:sp>
      <p:sp>
        <p:nvSpPr>
          <p:cNvPr id="12" name="Text 9"/>
          <p:cNvSpPr/>
          <p:nvPr/>
        </p:nvSpPr>
        <p:spPr>
          <a:xfrm>
            <a:off x="8585200" y="5130453"/>
            <a:ext cx="28778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IBM Plex Sans" pitchFamily="34" charset="0"/>
                <a:ea typeface="IBM Plex Sans" pitchFamily="34" charset="-122"/>
                <a:cs typeface="IBM Plex Sans" pitchFamily="34" charset="-120"/>
              </a:rPr>
              <a:t>smokers (274 of 1,338)</a:t>
            </a:r>
            <a:endParaRPr lang="en-US" sz="1200" dirty="0"/>
          </a:p>
        </p:txBody>
      </p:sp>
      <p:sp>
        <p:nvSpPr>
          <p:cNvPr id="13" name="Text 1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IBM Plex Sans" pitchFamily="34" charset="0"/>
                <a:ea typeface="IBM Plex Sans" pitchFamily="34" charset="-122"/>
                <a:cs typeface="IBM Plex Sans" pitchFamily="34" charset="-120"/>
              </a:rPr>
              <a:t>Source: Kaggle, noordeen/insurance-premium-prediction</a:t>
            </a:r>
            <a:endParaRPr lang="en-US" sz="1200" dirty="0"/>
          </a:p>
        </p:txBody>
      </p:sp>
      <p:sp>
        <p:nvSpPr>
          <p:cNvPr id="14"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078"/>
                </a:solidFill>
                <a:latin typeface="IBM Plex Sans" pitchFamily="34" charset="0"/>
                <a:ea typeface="IBM Plex Sans" pitchFamily="34" charset="-122"/>
                <a:cs typeface="IBM Plex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4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F"/>
                </a:solidFill>
                <a:latin typeface="IBM Plex Sans" pitchFamily="34" charset="0"/>
                <a:ea typeface="IBM Plex Sans" pitchFamily="34" charset="-122"/>
                <a:cs typeface="IBM Plex Sans" pitchFamily="34" charset="-120"/>
              </a:rPr>
              <a:t>HOW DECISION TREE REGRESSION WORKS</a:t>
            </a:r>
            <a:endParaRPr lang="en-US" sz="1200" dirty="0"/>
          </a:p>
        </p:txBody>
      </p:sp>
      <p:sp>
        <p:nvSpPr>
          <p:cNvPr id="3" name="Text 1"/>
          <p:cNvSpPr/>
          <p:nvPr>
            <p:ph type="title"/>
          </p:nvPr>
        </p:nvSpPr>
        <p:spPr>
          <a:xfrm>
            <a:off x="812800" y="11531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23262B"/>
                </a:solidFill>
                <a:latin typeface="Bricolage Grotesque" pitchFamily="34" charset="0"/>
                <a:ea typeface="Bricolage Grotesque" pitchFamily="34" charset="-122"/>
                <a:cs typeface="Bricolage Grotesque" pitchFamily="34" charset="-120"/>
              </a:rPr>
              <a:t>A tree asks yes or no questions</a:t>
            </a:r>
            <a:endParaRPr lang="en-US" sz="3600" dirty="0"/>
          </a:p>
        </p:txBody>
      </p:sp>
      <p:sp>
        <p:nvSpPr>
          <p:cNvPr id="4" name="Text 2"/>
          <p:cNvSpPr/>
          <p:nvPr/>
        </p:nvSpPr>
        <p:spPr>
          <a:xfrm>
            <a:off x="812800" y="1783011"/>
            <a:ext cx="981075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E535B"/>
                </a:solidFill>
                <a:latin typeface="IBM Plex Sans" pitchFamily="34" charset="0"/>
                <a:ea typeface="IBM Plex Sans" pitchFamily="34" charset="-122"/>
                <a:cs typeface="IBM Plex Sans" pitchFamily="34" charset="-120"/>
              </a:rPr>
              <a:t>Each answer sends a customer left or right. At the bottom, the prediction is the average bill of the training customers in that group.</a:t>
            </a:r>
            <a:endParaRPr lang="en-US" sz="1600" dirty="0"/>
          </a:p>
        </p:txBody>
      </p:sp>
      <p:sp>
        <p:nvSpPr>
          <p:cNvPr id="5" name="Text 3"/>
          <p:cNvSpPr/>
          <p:nvPr/>
        </p:nvSpPr>
        <p:spPr>
          <a:xfrm>
            <a:off x="4953000" y="2565400"/>
            <a:ext cx="2286000" cy="584200"/>
          </a:xfrm>
          <a:prstGeom prst="roundRect">
            <a:avLst>
              <a:gd name="adj" fmla="val 15217"/>
            </a:avLst>
          </a:prstGeom>
          <a:solidFill>
            <a:srgbClr val="22252A"/>
          </a:solidFill>
          <a:ln/>
        </p:spPr>
        <p:txBody>
          <a:bodyPr wrap="square" lIns="0" tIns="0" rIns="0" bIns="0" rtlCol="0" anchor="ctr">
            <a:normAutofit/>
          </a:bodyPr>
          <a:lstStyle/>
          <a:p>
            <a:pPr algn="ctr" indent="0" marL="0">
              <a:lnSpc>
                <a:spcPts val="2240"/>
              </a:lnSpc>
              <a:buNone/>
            </a:pPr>
            <a:r>
              <a:rPr lang="en-US" sz="1600" b="1" dirty="0">
                <a:solidFill>
                  <a:srgbClr val="EEECE8"/>
                </a:solidFill>
                <a:latin typeface="IBM Plex Sans" pitchFamily="34" charset="0"/>
                <a:ea typeface="IBM Plex Sans" pitchFamily="34" charset="-122"/>
                <a:cs typeface="IBM Plex Sans" pitchFamily="34" charset="-120"/>
              </a:rPr>
              <a:t>Smoker?</a:t>
            </a:r>
            <a:endParaRPr lang="en-US" sz="1600" dirty="0"/>
          </a:p>
        </p:txBody>
      </p:sp>
      <p:sp>
        <p:nvSpPr>
          <p:cNvPr id="6" name="Text 4"/>
          <p:cNvSpPr/>
          <p:nvPr/>
        </p:nvSpPr>
        <p:spPr>
          <a:xfrm>
            <a:off x="2419350" y="3587750"/>
            <a:ext cx="2273300" cy="571500"/>
          </a:xfrm>
          <a:prstGeom prst="roundRect">
            <a:avLst>
              <a:gd name="adj" fmla="val 14444"/>
            </a:avLst>
          </a:prstGeom>
          <a:solidFill>
            <a:srgbClr val="FCFBF9"/>
          </a:solidFill>
          <a:ln w="12700">
            <a:solidFill>
              <a:srgbClr val="C8C4BD"/>
            </a:solidFill>
            <a:prstDash val="solid"/>
          </a:ln>
        </p:spPr>
        <p:txBody>
          <a:bodyPr wrap="square" lIns="0" tIns="0" rIns="0" bIns="0" rtlCol="0" anchor="ctr">
            <a:normAutofit/>
          </a:bodyPr>
          <a:lstStyle/>
          <a:p>
            <a:pPr algn="ctr" indent="0" marL="0">
              <a:lnSpc>
                <a:spcPts val="2240"/>
              </a:lnSpc>
              <a:buNone/>
            </a:pPr>
            <a:r>
              <a:rPr lang="en-US" sz="1600" b="1" dirty="0">
                <a:solidFill>
                  <a:srgbClr val="23262B"/>
                </a:solidFill>
                <a:latin typeface="IBM Plex Sans" pitchFamily="34" charset="0"/>
                <a:ea typeface="IBM Plex Sans" pitchFamily="34" charset="-122"/>
                <a:cs typeface="IBM Plex Sans" pitchFamily="34" charset="-120"/>
              </a:rPr>
              <a:t>Age ≤ 42.5?</a:t>
            </a:r>
            <a:endParaRPr lang="en-US" sz="1600" dirty="0"/>
          </a:p>
        </p:txBody>
      </p:sp>
      <p:sp>
        <p:nvSpPr>
          <p:cNvPr id="7" name="Text 5"/>
          <p:cNvSpPr/>
          <p:nvPr/>
        </p:nvSpPr>
        <p:spPr>
          <a:xfrm>
            <a:off x="7499350" y="3587750"/>
            <a:ext cx="2273300" cy="571500"/>
          </a:xfrm>
          <a:prstGeom prst="roundRect">
            <a:avLst>
              <a:gd name="adj" fmla="val 14444"/>
            </a:avLst>
          </a:prstGeom>
          <a:solidFill>
            <a:srgbClr val="FCFBF9"/>
          </a:solidFill>
          <a:ln w="12700">
            <a:solidFill>
              <a:srgbClr val="C8C4BD"/>
            </a:solidFill>
            <a:prstDash val="solid"/>
          </a:ln>
        </p:spPr>
        <p:txBody>
          <a:bodyPr wrap="square" lIns="0" tIns="0" rIns="0" bIns="0" rtlCol="0" anchor="ctr">
            <a:normAutofit/>
          </a:bodyPr>
          <a:lstStyle/>
          <a:p>
            <a:pPr algn="ctr" indent="0" marL="0">
              <a:lnSpc>
                <a:spcPts val="2240"/>
              </a:lnSpc>
              <a:buNone/>
            </a:pPr>
            <a:r>
              <a:rPr lang="en-US" sz="1600" b="1" dirty="0">
                <a:solidFill>
                  <a:srgbClr val="23262B"/>
                </a:solidFill>
                <a:latin typeface="IBM Plex Sans" pitchFamily="34" charset="0"/>
                <a:ea typeface="IBM Plex Sans" pitchFamily="34" charset="-122"/>
                <a:cs typeface="IBM Plex Sans" pitchFamily="34" charset="-120"/>
              </a:rPr>
              <a:t>BMI ≤ 30.1?</a:t>
            </a:r>
            <a:endParaRPr lang="en-US" sz="1600" dirty="0"/>
          </a:p>
        </p:txBody>
      </p:sp>
      <p:sp>
        <p:nvSpPr>
          <p:cNvPr id="8" name="Shape 6"/>
          <p:cNvSpPr/>
          <p:nvPr/>
        </p:nvSpPr>
        <p:spPr>
          <a:xfrm>
            <a:off x="1212850" y="4641850"/>
            <a:ext cx="2146300" cy="1168400"/>
          </a:xfrm>
          <a:prstGeom prst="roundRect">
            <a:avLst>
              <a:gd name="adj" fmla="val 5978"/>
            </a:avLst>
          </a:prstGeom>
          <a:solidFill>
            <a:srgbClr val="FCFBF9"/>
          </a:solidFill>
          <a:ln w="12700">
            <a:solidFill>
              <a:srgbClr val="DDDAD4"/>
            </a:solidFill>
            <a:prstDash val="solid"/>
          </a:ln>
        </p:spPr>
      </p:sp>
      <p:sp>
        <p:nvSpPr>
          <p:cNvPr id="9" name="Text 7"/>
          <p:cNvSpPr/>
          <p:nvPr/>
        </p:nvSpPr>
        <p:spPr>
          <a:xfrm>
            <a:off x="1346200" y="4749800"/>
            <a:ext cx="1935988"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6B7078"/>
                </a:solidFill>
                <a:latin typeface="IBM Plex Sans" pitchFamily="34" charset="0"/>
                <a:ea typeface="IBM Plex Sans" pitchFamily="34" charset="-122"/>
                <a:cs typeface="IBM Plex Sans" pitchFamily="34" charset="-120"/>
              </a:rPr>
              <a:t>Non-smokers, age 42 or under · 484 people</a:t>
            </a:r>
            <a:endParaRPr lang="en-US" sz="1200" dirty="0"/>
          </a:p>
        </p:txBody>
      </p:sp>
      <p:sp>
        <p:nvSpPr>
          <p:cNvPr id="10" name="Text 8"/>
          <p:cNvSpPr/>
          <p:nvPr/>
        </p:nvSpPr>
        <p:spPr>
          <a:xfrm>
            <a:off x="1346200" y="5184080"/>
            <a:ext cx="1935988"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3262B"/>
                </a:solidFill>
                <a:latin typeface="Bricolage Grotesque" pitchFamily="34" charset="0"/>
                <a:ea typeface="Bricolage Grotesque" pitchFamily="34" charset="-122"/>
                <a:cs typeface="Bricolage Grotesque" pitchFamily="34" charset="-120"/>
              </a:rPr>
              <a:t>$5,519</a:t>
            </a:r>
            <a:endParaRPr lang="en-US" sz="2200" dirty="0"/>
          </a:p>
        </p:txBody>
      </p:sp>
      <p:sp>
        <p:nvSpPr>
          <p:cNvPr id="11" name="Shape 9"/>
          <p:cNvSpPr/>
          <p:nvPr/>
        </p:nvSpPr>
        <p:spPr>
          <a:xfrm>
            <a:off x="3752850" y="4641850"/>
            <a:ext cx="2146300" cy="1168400"/>
          </a:xfrm>
          <a:prstGeom prst="roundRect">
            <a:avLst>
              <a:gd name="adj" fmla="val 5978"/>
            </a:avLst>
          </a:prstGeom>
          <a:solidFill>
            <a:srgbClr val="FCFBF9"/>
          </a:solidFill>
          <a:ln w="12700">
            <a:solidFill>
              <a:srgbClr val="DDDAD4"/>
            </a:solidFill>
            <a:prstDash val="solid"/>
          </a:ln>
        </p:spPr>
      </p:sp>
      <p:sp>
        <p:nvSpPr>
          <p:cNvPr id="12" name="Text 10"/>
          <p:cNvSpPr/>
          <p:nvPr/>
        </p:nvSpPr>
        <p:spPr>
          <a:xfrm>
            <a:off x="3886200" y="4749800"/>
            <a:ext cx="1935988"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6B7078"/>
                </a:solidFill>
                <a:latin typeface="IBM Plex Sans" pitchFamily="34" charset="0"/>
                <a:ea typeface="IBM Plex Sans" pitchFamily="34" charset="-122"/>
                <a:cs typeface="IBM Plex Sans" pitchFamily="34" charset="-120"/>
              </a:rPr>
              <a:t>Non-smokers, age 43 or over · 371 people</a:t>
            </a:r>
            <a:endParaRPr lang="en-US" sz="1200" dirty="0"/>
          </a:p>
        </p:txBody>
      </p:sp>
      <p:sp>
        <p:nvSpPr>
          <p:cNvPr id="13" name="Text 11"/>
          <p:cNvSpPr/>
          <p:nvPr/>
        </p:nvSpPr>
        <p:spPr>
          <a:xfrm>
            <a:off x="3886200" y="5184080"/>
            <a:ext cx="1935988"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3262B"/>
                </a:solidFill>
                <a:latin typeface="Bricolage Grotesque" pitchFamily="34" charset="0"/>
                <a:ea typeface="Bricolage Grotesque" pitchFamily="34" charset="-122"/>
                <a:cs typeface="Bricolage Grotesque" pitchFamily="34" charset="-120"/>
              </a:rPr>
              <a:t>$12,385</a:t>
            </a:r>
            <a:endParaRPr lang="en-US" sz="2200" dirty="0"/>
          </a:p>
        </p:txBody>
      </p:sp>
      <p:sp>
        <p:nvSpPr>
          <p:cNvPr id="14" name="Shape 12"/>
          <p:cNvSpPr/>
          <p:nvPr/>
        </p:nvSpPr>
        <p:spPr>
          <a:xfrm>
            <a:off x="6292850" y="4641850"/>
            <a:ext cx="2146300" cy="1168400"/>
          </a:xfrm>
          <a:prstGeom prst="roundRect">
            <a:avLst>
              <a:gd name="adj" fmla="val 5978"/>
            </a:avLst>
          </a:prstGeom>
          <a:solidFill>
            <a:srgbClr val="FCFBF9"/>
          </a:solidFill>
          <a:ln w="12700">
            <a:solidFill>
              <a:srgbClr val="DDDAD4"/>
            </a:solidFill>
            <a:prstDash val="solid"/>
          </a:ln>
        </p:spPr>
      </p:sp>
      <p:sp>
        <p:nvSpPr>
          <p:cNvPr id="15" name="Text 13"/>
          <p:cNvSpPr/>
          <p:nvPr/>
        </p:nvSpPr>
        <p:spPr>
          <a:xfrm>
            <a:off x="6426200" y="4749800"/>
            <a:ext cx="1935988"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6B7078"/>
                </a:solidFill>
                <a:latin typeface="IBM Plex Sans" pitchFamily="34" charset="0"/>
                <a:ea typeface="IBM Plex Sans" pitchFamily="34" charset="-122"/>
                <a:cs typeface="IBM Plex Sans" pitchFamily="34" charset="-120"/>
              </a:rPr>
              <a:t>Smokers, BMI 30.1 or under · 109 people</a:t>
            </a:r>
            <a:endParaRPr lang="en-US" sz="1200" dirty="0"/>
          </a:p>
        </p:txBody>
      </p:sp>
      <p:sp>
        <p:nvSpPr>
          <p:cNvPr id="16" name="Text 14"/>
          <p:cNvSpPr/>
          <p:nvPr/>
        </p:nvSpPr>
        <p:spPr>
          <a:xfrm>
            <a:off x="6426200" y="5184080"/>
            <a:ext cx="1935988"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3262B"/>
                </a:solidFill>
                <a:latin typeface="Bricolage Grotesque" pitchFamily="34" charset="0"/>
                <a:ea typeface="Bricolage Grotesque" pitchFamily="34" charset="-122"/>
                <a:cs typeface="Bricolage Grotesque" pitchFamily="34" charset="-120"/>
              </a:rPr>
              <a:t>$21,337</a:t>
            </a:r>
            <a:endParaRPr lang="en-US" sz="2200" dirty="0"/>
          </a:p>
        </p:txBody>
      </p:sp>
      <p:sp>
        <p:nvSpPr>
          <p:cNvPr id="17" name="Shape 15"/>
          <p:cNvSpPr/>
          <p:nvPr/>
        </p:nvSpPr>
        <p:spPr>
          <a:xfrm>
            <a:off x="8832850" y="4641850"/>
            <a:ext cx="2146300" cy="1168400"/>
          </a:xfrm>
          <a:prstGeom prst="roundRect">
            <a:avLst>
              <a:gd name="adj" fmla="val 5978"/>
            </a:avLst>
          </a:prstGeom>
          <a:solidFill>
            <a:srgbClr val="FCFBF9"/>
          </a:solidFill>
          <a:ln w="12700">
            <a:solidFill>
              <a:srgbClr val="DDDAD4"/>
            </a:solidFill>
            <a:prstDash val="solid"/>
          </a:ln>
        </p:spPr>
      </p:sp>
      <p:sp>
        <p:nvSpPr>
          <p:cNvPr id="18" name="Text 16"/>
          <p:cNvSpPr/>
          <p:nvPr/>
        </p:nvSpPr>
        <p:spPr>
          <a:xfrm>
            <a:off x="8966200" y="4749800"/>
            <a:ext cx="1935988"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6B7078"/>
                </a:solidFill>
                <a:latin typeface="IBM Plex Sans" pitchFamily="34" charset="0"/>
                <a:ea typeface="IBM Plex Sans" pitchFamily="34" charset="-122"/>
                <a:cs typeface="IBM Plex Sans" pitchFamily="34" charset="-120"/>
              </a:rPr>
              <a:t>Smokers, BMI over 30.1 · 105 people</a:t>
            </a:r>
            <a:endParaRPr lang="en-US" sz="1200" dirty="0"/>
          </a:p>
        </p:txBody>
      </p:sp>
      <p:sp>
        <p:nvSpPr>
          <p:cNvPr id="19" name="Text 17"/>
          <p:cNvSpPr/>
          <p:nvPr/>
        </p:nvSpPr>
        <p:spPr>
          <a:xfrm>
            <a:off x="8966200" y="5184080"/>
            <a:ext cx="1935988"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3262B"/>
                </a:solidFill>
                <a:latin typeface="Bricolage Grotesque" pitchFamily="34" charset="0"/>
                <a:ea typeface="Bricolage Grotesque" pitchFamily="34" charset="-122"/>
                <a:cs typeface="Bricolage Grotesque" pitchFamily="34" charset="-120"/>
              </a:rPr>
              <a:t>$41,308</a:t>
            </a:r>
            <a:endParaRPr lang="en-US" sz="2200" dirty="0"/>
          </a:p>
        </p:txBody>
      </p:sp>
      <p:pic>
        <p:nvPicPr>
          <p:cNvPr id="20" name="Image 0" descr="connector">    </p:cNvPr>
          <p:cNvPicPr>
            <a:picLocks noChangeAspect="1"/>
          </p:cNvPicPr>
          <p:nvPr/>
        </p:nvPicPr>
        <p:blipFill>
          <a:blip r:embed="rId1"/>
          <a:srcRect l="0" r="0" t="0" b="0"/>
          <a:stretch/>
        </p:blipFill>
        <p:spPr>
          <a:xfrm>
            <a:off x="3886200" y="3098800"/>
            <a:ext cx="1879600" cy="533400"/>
          </a:xfrm>
          <a:prstGeom prst="rect">
            <a:avLst/>
          </a:prstGeom>
        </p:spPr>
      </p:pic>
      <p:pic>
        <p:nvPicPr>
          <p:cNvPr id="21" name="Image 1" descr="connector">    </p:cNvPr>
          <p:cNvPicPr>
            <a:picLocks noChangeAspect="1"/>
          </p:cNvPicPr>
          <p:nvPr/>
        </p:nvPicPr>
        <p:blipFill>
          <a:blip r:embed="rId2"/>
          <a:srcRect l="0" r="0" t="0" b="0"/>
          <a:stretch/>
        </p:blipFill>
        <p:spPr>
          <a:xfrm>
            <a:off x="6426200" y="3098800"/>
            <a:ext cx="1879600" cy="533400"/>
          </a:xfrm>
          <a:prstGeom prst="rect">
            <a:avLst/>
          </a:prstGeom>
        </p:spPr>
      </p:pic>
      <p:pic>
        <p:nvPicPr>
          <p:cNvPr id="22" name="Image 2" descr="connector">    </p:cNvPr>
          <p:cNvPicPr>
            <a:picLocks noChangeAspect="1"/>
          </p:cNvPicPr>
          <p:nvPr/>
        </p:nvPicPr>
        <p:blipFill>
          <a:blip r:embed="rId3"/>
          <a:srcRect l="0" r="0" t="0" b="0"/>
          <a:stretch/>
        </p:blipFill>
        <p:spPr>
          <a:xfrm>
            <a:off x="2235200" y="4114800"/>
            <a:ext cx="990600" cy="571500"/>
          </a:xfrm>
          <a:prstGeom prst="rect">
            <a:avLst/>
          </a:prstGeom>
        </p:spPr>
      </p:pic>
      <p:pic>
        <p:nvPicPr>
          <p:cNvPr id="23" name="Image 3" descr="connector">    </p:cNvPr>
          <p:cNvPicPr>
            <a:picLocks noChangeAspect="1"/>
          </p:cNvPicPr>
          <p:nvPr/>
        </p:nvPicPr>
        <p:blipFill>
          <a:blip r:embed="rId4"/>
          <a:srcRect l="0" r="0" t="0" b="0"/>
          <a:stretch/>
        </p:blipFill>
        <p:spPr>
          <a:xfrm>
            <a:off x="3886200" y="4114800"/>
            <a:ext cx="990600" cy="571500"/>
          </a:xfrm>
          <a:prstGeom prst="rect">
            <a:avLst/>
          </a:prstGeom>
        </p:spPr>
      </p:pic>
      <p:pic>
        <p:nvPicPr>
          <p:cNvPr id="24" name="Image 4" descr="connector">    </p:cNvPr>
          <p:cNvPicPr>
            <a:picLocks noChangeAspect="1"/>
          </p:cNvPicPr>
          <p:nvPr/>
        </p:nvPicPr>
        <p:blipFill>
          <a:blip r:embed="rId5"/>
          <a:srcRect l="0" r="0" t="0" b="0"/>
          <a:stretch/>
        </p:blipFill>
        <p:spPr>
          <a:xfrm>
            <a:off x="7315200" y="4114800"/>
            <a:ext cx="990600" cy="571500"/>
          </a:xfrm>
          <a:prstGeom prst="rect">
            <a:avLst/>
          </a:prstGeom>
        </p:spPr>
      </p:pic>
      <p:pic>
        <p:nvPicPr>
          <p:cNvPr id="25" name="Image 5" descr="connector">    </p:cNvPr>
          <p:cNvPicPr>
            <a:picLocks noChangeAspect="1"/>
          </p:cNvPicPr>
          <p:nvPr/>
        </p:nvPicPr>
        <p:blipFill>
          <a:blip r:embed="rId6"/>
          <a:srcRect l="0" r="0" t="0" b="0"/>
          <a:stretch/>
        </p:blipFill>
        <p:spPr>
          <a:xfrm>
            <a:off x="8966200" y="4114800"/>
            <a:ext cx="990600" cy="571500"/>
          </a:xfrm>
          <a:prstGeom prst="rect">
            <a:avLst/>
          </a:prstGeom>
        </p:spPr>
      </p:pic>
      <p:sp>
        <p:nvSpPr>
          <p:cNvPr id="26" name="Text 18"/>
          <p:cNvSpPr/>
          <p:nvPr/>
        </p:nvSpPr>
        <p:spPr>
          <a:xfrm>
            <a:off x="4013200" y="3175000"/>
            <a:ext cx="6858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3F7350"/>
                </a:solidFill>
                <a:latin typeface="IBM Plex Sans" pitchFamily="34" charset="0"/>
                <a:ea typeface="IBM Plex Sans" pitchFamily="34" charset="-122"/>
                <a:cs typeface="IBM Plex Sans" pitchFamily="34" charset="-120"/>
              </a:rPr>
              <a:t>No</a:t>
            </a:r>
            <a:endParaRPr lang="en-US" sz="1200" dirty="0"/>
          </a:p>
        </p:txBody>
      </p:sp>
      <p:sp>
        <p:nvSpPr>
          <p:cNvPr id="27" name="Text 19"/>
          <p:cNvSpPr/>
          <p:nvPr/>
        </p:nvSpPr>
        <p:spPr>
          <a:xfrm>
            <a:off x="7493000" y="3175000"/>
            <a:ext cx="685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E4F4F"/>
                </a:solidFill>
                <a:latin typeface="IBM Plex Sans" pitchFamily="34" charset="0"/>
                <a:ea typeface="IBM Plex Sans" pitchFamily="34" charset="-122"/>
                <a:cs typeface="IBM Plex Sans" pitchFamily="34" charset="-120"/>
              </a:rPr>
              <a:t>Yes</a:t>
            </a:r>
            <a:endParaRPr lang="en-US" sz="1200" dirty="0"/>
          </a:p>
        </p:txBody>
      </p:sp>
      <p:sp>
        <p:nvSpPr>
          <p:cNvPr id="28" name="Text 20"/>
          <p:cNvSpPr/>
          <p:nvPr/>
        </p:nvSpPr>
        <p:spPr>
          <a:xfrm>
            <a:off x="1854200" y="4241800"/>
            <a:ext cx="6858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3F7350"/>
                </a:solidFill>
                <a:latin typeface="IBM Plex Sans" pitchFamily="34" charset="0"/>
                <a:ea typeface="IBM Plex Sans" pitchFamily="34" charset="-122"/>
                <a:cs typeface="IBM Plex Sans" pitchFamily="34" charset="-120"/>
              </a:rPr>
              <a:t>Yes</a:t>
            </a:r>
            <a:endParaRPr lang="en-US" sz="1200" dirty="0"/>
          </a:p>
        </p:txBody>
      </p:sp>
      <p:sp>
        <p:nvSpPr>
          <p:cNvPr id="29" name="Text 21"/>
          <p:cNvSpPr/>
          <p:nvPr/>
        </p:nvSpPr>
        <p:spPr>
          <a:xfrm>
            <a:off x="4572000" y="4241800"/>
            <a:ext cx="685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E4F4F"/>
                </a:solidFill>
                <a:latin typeface="IBM Plex Sans" pitchFamily="34" charset="0"/>
                <a:ea typeface="IBM Plex Sans" pitchFamily="34" charset="-122"/>
                <a:cs typeface="IBM Plex Sans" pitchFamily="34" charset="-120"/>
              </a:rPr>
              <a:t>No</a:t>
            </a:r>
            <a:endParaRPr lang="en-US" sz="1200" dirty="0"/>
          </a:p>
        </p:txBody>
      </p:sp>
      <p:sp>
        <p:nvSpPr>
          <p:cNvPr id="30" name="Text 22"/>
          <p:cNvSpPr/>
          <p:nvPr/>
        </p:nvSpPr>
        <p:spPr>
          <a:xfrm>
            <a:off x="6934200" y="4241800"/>
            <a:ext cx="6858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3F7350"/>
                </a:solidFill>
                <a:latin typeface="IBM Plex Sans" pitchFamily="34" charset="0"/>
                <a:ea typeface="IBM Plex Sans" pitchFamily="34" charset="-122"/>
                <a:cs typeface="IBM Plex Sans" pitchFamily="34" charset="-120"/>
              </a:rPr>
              <a:t>Yes</a:t>
            </a:r>
            <a:endParaRPr lang="en-US" sz="1200" dirty="0"/>
          </a:p>
        </p:txBody>
      </p:sp>
      <p:sp>
        <p:nvSpPr>
          <p:cNvPr id="31" name="Text 23"/>
          <p:cNvSpPr/>
          <p:nvPr/>
        </p:nvSpPr>
        <p:spPr>
          <a:xfrm>
            <a:off x="9652000" y="4241800"/>
            <a:ext cx="685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E4F4F"/>
                </a:solidFill>
                <a:latin typeface="IBM Plex Sans" pitchFamily="34" charset="0"/>
                <a:ea typeface="IBM Plex Sans" pitchFamily="34" charset="-122"/>
                <a:cs typeface="IBM Plex Sans" pitchFamily="34" charset="-120"/>
              </a:rPr>
              <a:t>No</a:t>
            </a:r>
            <a:endParaRPr lang="en-US" sz="1200" dirty="0"/>
          </a:p>
        </p:txBody>
      </p:sp>
      <p:sp>
        <p:nvSpPr>
          <p:cNvPr id="32" name="Text 24"/>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IBM Plex Sans" pitchFamily="34" charset="0"/>
                <a:ea typeface="IBM Plex Sans" pitchFamily="34" charset="-122"/>
                <a:cs typeface="IBM Plex Sans" pitchFamily="34" charset="-120"/>
              </a:rPr>
              <a:t>First two levels of our trained tree. The full model goes 5 levels deep.</a:t>
            </a:r>
            <a:endParaRPr lang="en-US" sz="1200" dirty="0"/>
          </a:p>
        </p:txBody>
      </p:sp>
      <p:sp>
        <p:nvSpPr>
          <p:cNvPr id="33" name="Text 2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078"/>
                </a:solidFill>
                <a:latin typeface="IBM Plex Sans" pitchFamily="34" charset="0"/>
                <a:ea typeface="IBM Plex Sans" pitchFamily="34" charset="-122"/>
                <a:cs typeface="IBM Plex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4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F"/>
                </a:solidFill>
                <a:latin typeface="IBM Plex Sans" pitchFamily="34" charset="0"/>
                <a:ea typeface="IBM Plex Sans" pitchFamily="34" charset="-122"/>
                <a:cs typeface="IBM Plex Sans" pitchFamily="34" charset="-120"/>
              </a:rPr>
              <a:t>HOW DECISION TREE REGRESSION WORKS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23262B"/>
                </a:solidFill>
                <a:latin typeface="Bricolage Grotesque" pitchFamily="34" charset="0"/>
                <a:ea typeface="Bricolage Grotesque" pitchFamily="34" charset="-122"/>
                <a:cs typeface="Bricolage Grotesque" pitchFamily="34" charset="-120"/>
              </a:rPr>
              <a:t>How the tree picks each question</a:t>
            </a:r>
            <a:endParaRPr lang="en-US" sz="3600" dirty="0"/>
          </a:p>
        </p:txBody>
      </p:sp>
      <p:sp>
        <p:nvSpPr>
          <p:cNvPr id="4" name="Text 2"/>
          <p:cNvSpPr/>
          <p:nvPr/>
        </p:nvSpPr>
        <p:spPr>
          <a:xfrm>
            <a:off x="812800" y="1833811"/>
            <a:ext cx="981075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E535B"/>
                </a:solidFill>
                <a:latin typeface="IBM Plex Sans" pitchFamily="34" charset="0"/>
                <a:ea typeface="IBM Plex Sans" pitchFamily="34" charset="-122"/>
                <a:cs typeface="IBM Plex Sans" pitchFamily="34" charset="-120"/>
              </a:rPr>
              <a:t>It tries every feature and every cut point, then keeps the split that makes the bills inside each group most alike.</a:t>
            </a:r>
            <a:endParaRPr lang="en-US" sz="1600" dirty="0"/>
          </a:p>
        </p:txBody>
      </p:sp>
      <p:sp>
        <p:nvSpPr>
          <p:cNvPr id="5" name="Text 3"/>
          <p:cNvSpPr/>
          <p:nvPr/>
        </p:nvSpPr>
        <p:spPr>
          <a:xfrm>
            <a:off x="812800" y="2616101"/>
            <a:ext cx="196215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3262B"/>
                </a:solidFill>
                <a:latin typeface="IBM Plex Sans" pitchFamily="34" charset="0"/>
                <a:ea typeface="IBM Plex Sans" pitchFamily="34" charset="-122"/>
                <a:cs typeface="IBM Plex Sans" pitchFamily="34" charset="-120"/>
              </a:rPr>
              <a:t>smoker</a:t>
            </a:r>
            <a:endParaRPr lang="en-US" sz="1600" dirty="0"/>
          </a:p>
        </p:txBody>
      </p:sp>
      <p:sp>
        <p:nvSpPr>
          <p:cNvPr id="6" name="Shape 4"/>
          <p:cNvSpPr/>
          <p:nvPr/>
        </p:nvSpPr>
        <p:spPr>
          <a:xfrm>
            <a:off x="2870200" y="2605931"/>
            <a:ext cx="6350000" cy="304800"/>
          </a:xfrm>
          <a:prstGeom prst="roundRect">
            <a:avLst>
              <a:gd name="adj" fmla="val 12500"/>
            </a:avLst>
          </a:prstGeom>
          <a:solidFill>
            <a:srgbClr val="C9A24D"/>
          </a:solidFill>
          <a:ln/>
        </p:spPr>
      </p:sp>
      <p:sp>
        <p:nvSpPr>
          <p:cNvPr id="7" name="Text 5"/>
          <p:cNvSpPr/>
          <p:nvPr/>
        </p:nvSpPr>
        <p:spPr>
          <a:xfrm>
            <a:off x="9372600" y="2616101"/>
            <a:ext cx="1768614"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3262B"/>
                </a:solidFill>
                <a:latin typeface="IBM Plex Sans" pitchFamily="34" charset="0"/>
                <a:ea typeface="IBM Plex Sans" pitchFamily="34" charset="-122"/>
                <a:cs typeface="IBM Plex Sans" pitchFamily="34" charset="-120"/>
              </a:rPr>
              <a:t>59.9% · chosen</a:t>
            </a:r>
            <a:endParaRPr lang="en-US" sz="1600" dirty="0"/>
          </a:p>
        </p:txBody>
      </p:sp>
      <p:sp>
        <p:nvSpPr>
          <p:cNvPr id="8" name="Text 6"/>
          <p:cNvSpPr/>
          <p:nvPr/>
        </p:nvSpPr>
        <p:spPr>
          <a:xfrm>
            <a:off x="812800" y="3035201"/>
            <a:ext cx="19621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3262B"/>
                </a:solidFill>
                <a:latin typeface="IBM Plex Sans" pitchFamily="34" charset="0"/>
                <a:ea typeface="IBM Plex Sans" pitchFamily="34" charset="-122"/>
                <a:cs typeface="IBM Plex Sans" pitchFamily="34" charset="-120"/>
              </a:rPr>
              <a:t>age ≤ 42.5</a:t>
            </a:r>
            <a:endParaRPr lang="en-US" sz="1600" dirty="0"/>
          </a:p>
        </p:txBody>
      </p:sp>
      <p:sp>
        <p:nvSpPr>
          <p:cNvPr id="9" name="Shape 7"/>
          <p:cNvSpPr/>
          <p:nvPr/>
        </p:nvSpPr>
        <p:spPr>
          <a:xfrm>
            <a:off x="2870200" y="3025031"/>
            <a:ext cx="838200" cy="304800"/>
          </a:xfrm>
          <a:prstGeom prst="roundRect">
            <a:avLst>
              <a:gd name="adj" fmla="val 12500"/>
            </a:avLst>
          </a:prstGeom>
          <a:solidFill>
            <a:srgbClr val="C8C4BD"/>
          </a:solidFill>
          <a:ln/>
        </p:spPr>
      </p:sp>
      <p:sp>
        <p:nvSpPr>
          <p:cNvPr id="10" name="Text 8"/>
          <p:cNvSpPr/>
          <p:nvPr/>
        </p:nvSpPr>
        <p:spPr>
          <a:xfrm>
            <a:off x="3860800" y="3035201"/>
            <a:ext cx="58501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3262B"/>
                </a:solidFill>
                <a:latin typeface="IBM Plex Sans" pitchFamily="34" charset="0"/>
                <a:ea typeface="IBM Plex Sans" pitchFamily="34" charset="-122"/>
                <a:cs typeface="IBM Plex Sans" pitchFamily="34" charset="-120"/>
              </a:rPr>
              <a:t>7.9%</a:t>
            </a:r>
            <a:endParaRPr lang="en-US" sz="1600" dirty="0"/>
          </a:p>
        </p:txBody>
      </p:sp>
      <p:sp>
        <p:nvSpPr>
          <p:cNvPr id="11" name="Text 9"/>
          <p:cNvSpPr/>
          <p:nvPr/>
        </p:nvSpPr>
        <p:spPr>
          <a:xfrm>
            <a:off x="812800" y="3454301"/>
            <a:ext cx="19621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3262B"/>
                </a:solidFill>
                <a:latin typeface="IBM Plex Sans" pitchFamily="34" charset="0"/>
                <a:ea typeface="IBM Plex Sans" pitchFamily="34" charset="-122"/>
                <a:cs typeface="IBM Plex Sans" pitchFamily="34" charset="-120"/>
              </a:rPr>
              <a:t>bmi ≤ 29.75</a:t>
            </a:r>
            <a:endParaRPr lang="en-US" sz="1600" dirty="0"/>
          </a:p>
        </p:txBody>
      </p:sp>
      <p:sp>
        <p:nvSpPr>
          <p:cNvPr id="12" name="Shape 10"/>
          <p:cNvSpPr/>
          <p:nvPr/>
        </p:nvSpPr>
        <p:spPr>
          <a:xfrm>
            <a:off x="2870200" y="3444131"/>
            <a:ext cx="400050" cy="304800"/>
          </a:xfrm>
          <a:prstGeom prst="roundRect">
            <a:avLst>
              <a:gd name="adj" fmla="val 12500"/>
            </a:avLst>
          </a:prstGeom>
          <a:solidFill>
            <a:srgbClr val="C8C4BD"/>
          </a:solidFill>
          <a:ln/>
        </p:spPr>
      </p:sp>
      <p:sp>
        <p:nvSpPr>
          <p:cNvPr id="13" name="Text 11"/>
          <p:cNvSpPr/>
          <p:nvPr/>
        </p:nvSpPr>
        <p:spPr>
          <a:xfrm>
            <a:off x="3422650" y="3454301"/>
            <a:ext cx="58501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3262B"/>
                </a:solidFill>
                <a:latin typeface="IBM Plex Sans" pitchFamily="34" charset="0"/>
                <a:ea typeface="IBM Plex Sans" pitchFamily="34" charset="-122"/>
                <a:cs typeface="IBM Plex Sans" pitchFamily="34" charset="-120"/>
              </a:rPr>
              <a:t>3.8%</a:t>
            </a:r>
            <a:endParaRPr lang="en-US" sz="1600" dirty="0"/>
          </a:p>
        </p:txBody>
      </p:sp>
      <p:sp>
        <p:nvSpPr>
          <p:cNvPr id="14" name="Text 12"/>
          <p:cNvSpPr/>
          <p:nvPr/>
        </p:nvSpPr>
        <p:spPr>
          <a:xfrm>
            <a:off x="812800" y="3873401"/>
            <a:ext cx="19621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3262B"/>
                </a:solidFill>
                <a:latin typeface="IBM Plex Sans" pitchFamily="34" charset="0"/>
                <a:ea typeface="IBM Plex Sans" pitchFamily="34" charset="-122"/>
                <a:cs typeface="IBM Plex Sans" pitchFamily="34" charset="-120"/>
              </a:rPr>
              <a:t>children ≤ 1.5</a:t>
            </a:r>
            <a:endParaRPr lang="en-US" sz="1600" dirty="0"/>
          </a:p>
        </p:txBody>
      </p:sp>
      <p:sp>
        <p:nvSpPr>
          <p:cNvPr id="15" name="Shape 13"/>
          <p:cNvSpPr/>
          <p:nvPr/>
        </p:nvSpPr>
        <p:spPr>
          <a:xfrm>
            <a:off x="2870200" y="3863231"/>
            <a:ext cx="127000" cy="304800"/>
          </a:xfrm>
          <a:prstGeom prst="roundRect">
            <a:avLst>
              <a:gd name="adj" fmla="val 30000"/>
            </a:avLst>
          </a:prstGeom>
          <a:solidFill>
            <a:srgbClr val="C8C4BD"/>
          </a:solidFill>
          <a:ln/>
        </p:spPr>
      </p:sp>
      <p:sp>
        <p:nvSpPr>
          <p:cNvPr id="16" name="Text 14"/>
          <p:cNvSpPr/>
          <p:nvPr/>
        </p:nvSpPr>
        <p:spPr>
          <a:xfrm>
            <a:off x="3149600" y="3873401"/>
            <a:ext cx="58501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3262B"/>
                </a:solidFill>
                <a:latin typeface="IBM Plex Sans" pitchFamily="34" charset="0"/>
                <a:ea typeface="IBM Plex Sans" pitchFamily="34" charset="-122"/>
                <a:cs typeface="IBM Plex Sans" pitchFamily="34" charset="-120"/>
              </a:rPr>
              <a:t>1.2%</a:t>
            </a:r>
            <a:endParaRPr lang="en-US" sz="1600" dirty="0"/>
          </a:p>
        </p:txBody>
      </p:sp>
      <p:sp>
        <p:nvSpPr>
          <p:cNvPr id="17" name="Text 15"/>
          <p:cNvSpPr/>
          <p:nvPr/>
        </p:nvSpPr>
        <p:spPr>
          <a:xfrm>
            <a:off x="812800" y="4292501"/>
            <a:ext cx="19621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3262B"/>
                </a:solidFill>
                <a:latin typeface="IBM Plex Sans" pitchFamily="34" charset="0"/>
                <a:ea typeface="IBM Plex Sans" pitchFamily="34" charset="-122"/>
                <a:cs typeface="IBM Plex Sans" pitchFamily="34" charset="-120"/>
              </a:rPr>
              <a:t>sex</a:t>
            </a:r>
            <a:endParaRPr lang="en-US" sz="1600" dirty="0"/>
          </a:p>
        </p:txBody>
      </p:sp>
      <p:sp>
        <p:nvSpPr>
          <p:cNvPr id="18" name="Shape 16"/>
          <p:cNvSpPr/>
          <p:nvPr/>
        </p:nvSpPr>
        <p:spPr>
          <a:xfrm>
            <a:off x="2870200" y="4282331"/>
            <a:ext cx="50800" cy="304800"/>
          </a:xfrm>
          <a:prstGeom prst="roundRect">
            <a:avLst>
              <a:gd name="adj" fmla="val 50000"/>
            </a:avLst>
          </a:prstGeom>
          <a:solidFill>
            <a:srgbClr val="C8C4BD"/>
          </a:solidFill>
          <a:ln/>
        </p:spPr>
      </p:sp>
      <p:sp>
        <p:nvSpPr>
          <p:cNvPr id="19" name="Text 17"/>
          <p:cNvSpPr/>
          <p:nvPr/>
        </p:nvSpPr>
        <p:spPr>
          <a:xfrm>
            <a:off x="3073400" y="4292501"/>
            <a:ext cx="58501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3262B"/>
                </a:solidFill>
                <a:latin typeface="IBM Plex Sans" pitchFamily="34" charset="0"/>
                <a:ea typeface="IBM Plex Sans" pitchFamily="34" charset="-122"/>
                <a:cs typeface="IBM Plex Sans" pitchFamily="34" charset="-120"/>
              </a:rPr>
              <a:t>0.4%</a:t>
            </a:r>
            <a:endParaRPr lang="en-US" sz="1600" dirty="0"/>
          </a:p>
        </p:txBody>
      </p:sp>
      <p:sp>
        <p:nvSpPr>
          <p:cNvPr id="20" name="Text 18"/>
          <p:cNvSpPr/>
          <p:nvPr/>
        </p:nvSpPr>
        <p:spPr>
          <a:xfrm>
            <a:off x="812800" y="479033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IBM Plex Sans" pitchFamily="34" charset="0"/>
                <a:ea typeface="IBM Plex Sans" pitchFamily="34" charset="-122"/>
                <a:cs typeface="IBM Plex Sans" pitchFamily="34" charset="-120"/>
              </a:rPr>
              <a:t>Share of the bill variation removed by the best first split on each feature (1,069 training customers).</a:t>
            </a:r>
            <a:endParaRPr lang="en-US" sz="1200" dirty="0"/>
          </a:p>
        </p:txBody>
      </p:sp>
      <p:sp>
        <p:nvSpPr>
          <p:cNvPr id="21" name="Text 19"/>
          <p:cNvSpPr/>
          <p:nvPr/>
        </p:nvSpPr>
        <p:spPr>
          <a:xfrm>
            <a:off x="819150" y="5213201"/>
            <a:ext cx="10553700" cy="515590"/>
          </a:xfrm>
          <a:prstGeom prst="roundRect">
            <a:avLst>
              <a:gd name="adj" fmla="val 13548"/>
            </a:avLst>
          </a:prstGeom>
          <a:solidFill>
            <a:srgbClr val="FCFBF9"/>
          </a:solidFill>
          <a:ln w="12700">
            <a:solidFill>
              <a:srgbClr val="DDDAD4"/>
            </a:solidFill>
            <a:prstDash val="solid"/>
          </a:ln>
        </p:spPr>
        <p:txBody>
          <a:bodyPr wrap="square" lIns="163692" tIns="112892" rIns="0" bIns="87492" rtlCol="0" anchor="t">
            <a:normAutofit/>
          </a:bodyPr>
          <a:lstStyle/>
          <a:p>
            <a:pPr algn="l" indent="0" marL="0">
              <a:lnSpc>
                <a:spcPts val="1960"/>
              </a:lnSpc>
              <a:buNone/>
            </a:pPr>
            <a:r>
              <a:rPr lang="en-US" sz="1400" b="1" dirty="0">
                <a:solidFill>
                  <a:srgbClr val="23262B"/>
                </a:solidFill>
                <a:latin typeface="IBM Plex Sans" pitchFamily="34" charset="0"/>
                <a:ea typeface="IBM Plex Sans" pitchFamily="34" charset="-122"/>
                <a:cs typeface="IBM Plex Sans" pitchFamily="34" charset="-120"/>
              </a:rPr>
              <a:t>Error removed</a:t>
            </a:r>
            <a:r>
              <a:rPr lang="en-US" sz="1400" dirty="0">
                <a:solidFill>
                  <a:srgbClr val="23262B"/>
                </a:solidFill>
                <a:latin typeface="IBM Plex Sans" pitchFamily="34" charset="0"/>
                <a:ea typeface="IBM Plex Sans" pitchFamily="34" charset="-122"/>
                <a:cs typeface="IBM Plex Sans" pitchFamily="34" charset="-120"/>
              </a:rPr>
              <a:t> = spread of bills before the split − weighted spread of the two groups after it (squared error)</a:t>
            </a:r>
            <a:endParaRPr lang="en-US" sz="1400" dirty="0"/>
          </a:p>
        </p:txBody>
      </p:sp>
      <p:sp>
        <p:nvSpPr>
          <p:cNvPr id="22" name="Text 2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IBM Plex Sans" pitchFamily="34" charset="0"/>
                <a:ea typeface="IBM Plex Sans" pitchFamily="34" charset="-122"/>
                <a:cs typeface="IBM Plex Sans" pitchFamily="34" charset="-120"/>
              </a:rPr>
              <a:t>Group 5 · Decision Tree Regression</a:t>
            </a:r>
            <a:endParaRPr lang="en-US" sz="1200" dirty="0"/>
          </a:p>
        </p:txBody>
      </p:sp>
      <p:sp>
        <p:nvSpPr>
          <p:cNvPr id="23"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078"/>
                </a:solidFill>
                <a:latin typeface="IBM Plex Sans" pitchFamily="34" charset="0"/>
                <a:ea typeface="IBM Plex Sans" pitchFamily="34" charset="-122"/>
                <a:cs typeface="IBM Plex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2252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9A24D"/>
                </a:solidFill>
                <a:latin typeface="IBM Plex Sans" pitchFamily="34" charset="0"/>
                <a:ea typeface="IBM Plex Sans" pitchFamily="34" charset="-122"/>
                <a:cs typeface="IBM Plex Sans" pitchFamily="34" charset="-120"/>
              </a:rPr>
              <a:t>WHAT THE DATA SHOWS</a:t>
            </a:r>
            <a:endParaRPr lang="en-US" sz="1200" dirty="0"/>
          </a:p>
        </p:txBody>
      </p:sp>
      <p:sp>
        <p:nvSpPr>
          <p:cNvPr id="3" name="Text 1"/>
          <p:cNvSpPr/>
          <p:nvPr>
            <p:ph type="title"/>
          </p:nvPr>
        </p:nvSpPr>
        <p:spPr>
          <a:xfrm>
            <a:off x="812800" y="112772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EEECE8"/>
                </a:solidFill>
                <a:latin typeface="Bricolage Grotesque" pitchFamily="34" charset="0"/>
                <a:ea typeface="Bricolage Grotesque" pitchFamily="34" charset="-122"/>
                <a:cs typeface="Bricolage Grotesque" pitchFamily="34" charset="-120"/>
              </a:rPr>
              <a:t>Smokers pay about 4.7 times more</a:t>
            </a:r>
            <a:endParaRPr lang="en-US" sz="6000" dirty="0"/>
          </a:p>
        </p:txBody>
      </p:sp>
      <p:sp>
        <p:nvSpPr>
          <p:cNvPr id="4" name="Text 2"/>
          <p:cNvSpPr/>
          <p:nvPr/>
        </p:nvSpPr>
        <p:spPr>
          <a:xfrm>
            <a:off x="812800" y="3360440"/>
            <a:ext cx="19621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4C1BB"/>
                </a:solidFill>
                <a:latin typeface="IBM Plex Sans" pitchFamily="34" charset="0"/>
                <a:ea typeface="IBM Plex Sans" pitchFamily="34" charset="-122"/>
                <a:cs typeface="IBM Plex Sans" pitchFamily="34" charset="-120"/>
              </a:rPr>
              <a:t>Non-smokers</a:t>
            </a:r>
            <a:endParaRPr lang="en-US" sz="1600" dirty="0"/>
          </a:p>
        </p:txBody>
      </p:sp>
      <p:sp>
        <p:nvSpPr>
          <p:cNvPr id="5" name="Shape 3"/>
          <p:cNvSpPr/>
          <p:nvPr/>
        </p:nvSpPr>
        <p:spPr>
          <a:xfrm>
            <a:off x="2921000" y="3299470"/>
            <a:ext cx="1492250" cy="406400"/>
          </a:xfrm>
          <a:prstGeom prst="roundRect">
            <a:avLst>
              <a:gd name="adj" fmla="val 12500"/>
            </a:avLst>
          </a:prstGeom>
          <a:solidFill>
            <a:srgbClr val="6B9E78"/>
          </a:solidFill>
          <a:ln/>
        </p:spPr>
      </p:sp>
      <p:sp>
        <p:nvSpPr>
          <p:cNvPr id="6" name="Text 4"/>
          <p:cNvSpPr/>
          <p:nvPr/>
        </p:nvSpPr>
        <p:spPr>
          <a:xfrm>
            <a:off x="4616450" y="3307110"/>
            <a:ext cx="1110139"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EECE8"/>
                </a:solidFill>
                <a:latin typeface="IBM Plex Sans" pitchFamily="34" charset="0"/>
                <a:ea typeface="IBM Plex Sans" pitchFamily="34" charset="-122"/>
                <a:cs typeface="IBM Plex Sans" pitchFamily="34" charset="-120"/>
              </a:rPr>
              <a:t>$7,346</a:t>
            </a:r>
            <a:endParaRPr lang="en-US" sz="2200" dirty="0"/>
          </a:p>
        </p:txBody>
      </p:sp>
      <p:sp>
        <p:nvSpPr>
          <p:cNvPr id="7" name="Text 5"/>
          <p:cNvSpPr/>
          <p:nvPr/>
        </p:nvSpPr>
        <p:spPr>
          <a:xfrm>
            <a:off x="812800" y="3944640"/>
            <a:ext cx="19621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4C1BB"/>
                </a:solidFill>
                <a:latin typeface="IBM Plex Sans" pitchFamily="34" charset="0"/>
                <a:ea typeface="IBM Plex Sans" pitchFamily="34" charset="-122"/>
                <a:cs typeface="IBM Plex Sans" pitchFamily="34" charset="-120"/>
              </a:rPr>
              <a:t>Smokers</a:t>
            </a:r>
            <a:endParaRPr lang="en-US" sz="1600" dirty="0"/>
          </a:p>
        </p:txBody>
      </p:sp>
      <p:sp>
        <p:nvSpPr>
          <p:cNvPr id="8" name="Shape 6"/>
          <p:cNvSpPr/>
          <p:nvPr/>
        </p:nvSpPr>
        <p:spPr>
          <a:xfrm>
            <a:off x="2921000" y="3883670"/>
            <a:ext cx="6985000" cy="406400"/>
          </a:xfrm>
          <a:prstGeom prst="roundRect">
            <a:avLst>
              <a:gd name="adj" fmla="val 12500"/>
            </a:avLst>
          </a:prstGeom>
          <a:solidFill>
            <a:srgbClr val="C07A7A"/>
          </a:solidFill>
          <a:ln/>
        </p:spPr>
      </p:sp>
      <p:sp>
        <p:nvSpPr>
          <p:cNvPr id="9" name="Text 7"/>
          <p:cNvSpPr/>
          <p:nvPr/>
        </p:nvSpPr>
        <p:spPr>
          <a:xfrm>
            <a:off x="10109200" y="3891310"/>
            <a:ext cx="1311295"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EECE8"/>
                </a:solidFill>
                <a:latin typeface="IBM Plex Sans" pitchFamily="34" charset="0"/>
                <a:ea typeface="IBM Plex Sans" pitchFamily="34" charset="-122"/>
                <a:cs typeface="IBM Plex Sans" pitchFamily="34" charset="-120"/>
              </a:rPr>
              <a:t>$34,456</a:t>
            </a:r>
            <a:endParaRPr lang="en-US" sz="2200" dirty="0"/>
          </a:p>
        </p:txBody>
      </p:sp>
      <p:sp>
        <p:nvSpPr>
          <p:cNvPr id="10" name="Text 8"/>
          <p:cNvSpPr/>
          <p:nvPr/>
        </p:nvSpPr>
        <p:spPr>
          <a:xfrm>
            <a:off x="812800" y="446787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78F"/>
                </a:solidFill>
                <a:latin typeface="IBM Plex Sans" pitchFamily="34" charset="0"/>
                <a:ea typeface="IBM Plex Sans" pitchFamily="34" charset="-122"/>
                <a:cs typeface="IBM Plex Sans" pitchFamily="34" charset="-120"/>
              </a:rPr>
              <a:t>Median yearly bill per group</a:t>
            </a:r>
            <a:endParaRPr lang="en-US" sz="1200" dirty="0"/>
          </a:p>
        </p:txBody>
      </p:sp>
      <p:sp>
        <p:nvSpPr>
          <p:cNvPr id="11" name="Text 9"/>
          <p:cNvSpPr/>
          <p:nvPr/>
        </p:nvSpPr>
        <p:spPr>
          <a:xfrm>
            <a:off x="812800" y="5252740"/>
            <a:ext cx="9810750" cy="61466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C4C1BB"/>
                </a:solidFill>
                <a:latin typeface="IBM Plex Sans" pitchFamily="34" charset="0"/>
                <a:ea typeface="IBM Plex Sans" pitchFamily="34" charset="-122"/>
                <a:cs typeface="IBM Plex Sans" pitchFamily="34" charset="-120"/>
              </a:rPr>
              <a:t>Coded as 0 or 1, smoking has the strongest link with the bill: correlation </a:t>
            </a:r>
            <a:r>
              <a:rPr lang="en-US" sz="1600" b="1" dirty="0">
                <a:solidFill>
                  <a:srgbClr val="EEECE8"/>
                </a:solidFill>
                <a:latin typeface="IBM Plex Sans" pitchFamily="34" charset="0"/>
                <a:ea typeface="IBM Plex Sans" pitchFamily="34" charset="-122"/>
                <a:cs typeface="IBM Plex Sans" pitchFamily="34" charset="-120"/>
              </a:rPr>
              <a:t>0.79</a:t>
            </a:r>
            <a:r>
              <a:rPr lang="en-US" sz="1600" dirty="0">
                <a:solidFill>
                  <a:srgbClr val="C4C1BB"/>
                </a:solidFill>
                <a:latin typeface="IBM Plex Sans" pitchFamily="34" charset="0"/>
                <a:ea typeface="IBM Plex Sans" pitchFamily="34" charset="-122"/>
                <a:cs typeface="IBM Plex Sans" pitchFamily="34" charset="-120"/>
              </a:rPr>
              <a:t>, compared with 0.30 for age and 0.20 for BMI.</a:t>
            </a:r>
            <a:endParaRPr lang="en-US" sz="1600" dirty="0"/>
          </a:p>
        </p:txBody>
      </p:sp>
      <p:sp>
        <p:nvSpPr>
          <p:cNvPr id="12" name="Text 1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78F"/>
                </a:solidFill>
                <a:latin typeface="IBM Plex Sans" pitchFamily="34" charset="0"/>
                <a:ea typeface="IBM Plex Sans" pitchFamily="34" charset="-122"/>
                <a:cs typeface="IBM Plex Sans" pitchFamily="34" charset="-120"/>
              </a:rPr>
              <a:t>EDA · Group 5 · Decision Tree Regression</a:t>
            </a:r>
            <a:endParaRPr lang="en-US" sz="1200" dirty="0"/>
          </a:p>
        </p:txBody>
      </p:sp>
      <p:sp>
        <p:nvSpPr>
          <p:cNvPr id="13"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978F"/>
                </a:solidFill>
                <a:latin typeface="IBM Plex Sans" pitchFamily="34" charset="0"/>
                <a:ea typeface="IBM Plex Sans" pitchFamily="34" charset="-122"/>
                <a:cs typeface="IBM Plex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4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F"/>
                </a:solidFill>
                <a:latin typeface="IBM Plex Sans" pitchFamily="34" charset="0"/>
                <a:ea typeface="IBM Plex Sans" pitchFamily="34" charset="-122"/>
                <a:cs typeface="IBM Plex Sans" pitchFamily="34" charset="-120"/>
              </a:rPr>
              <a:t>PREPROCESSING</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23262B"/>
                </a:solidFill>
                <a:latin typeface="Bricolage Grotesque" pitchFamily="34" charset="0"/>
                <a:ea typeface="Bricolage Grotesque" pitchFamily="34" charset="-122"/>
                <a:cs typeface="Bricolage Grotesque" pitchFamily="34" charset="-120"/>
              </a:rPr>
              <a:t>Preparing the data</a:t>
            </a:r>
            <a:endParaRPr lang="en-US" sz="3600" dirty="0"/>
          </a:p>
        </p:txBody>
      </p:sp>
      <p:sp>
        <p:nvSpPr>
          <p:cNvPr id="4" name="Shape 2"/>
          <p:cNvSpPr/>
          <p:nvPr/>
        </p:nvSpPr>
        <p:spPr>
          <a:xfrm>
            <a:off x="819150" y="1916361"/>
            <a:ext cx="2514600" cy="1722041"/>
          </a:xfrm>
          <a:prstGeom prst="roundRect">
            <a:avLst>
              <a:gd name="adj" fmla="val 5531"/>
            </a:avLst>
          </a:prstGeom>
          <a:solidFill>
            <a:srgbClr val="FCFBF9"/>
          </a:solidFill>
          <a:ln w="12700">
            <a:solidFill>
              <a:srgbClr val="DDDAD4"/>
            </a:solidFill>
            <a:prstDash val="solid"/>
          </a:ln>
        </p:spPr>
      </p:sp>
      <p:sp>
        <p:nvSpPr>
          <p:cNvPr id="5" name="Text 3"/>
          <p:cNvSpPr/>
          <p:nvPr/>
        </p:nvSpPr>
        <p:spPr>
          <a:xfrm>
            <a:off x="1028700" y="2125911"/>
            <a:ext cx="215836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A1F"/>
                </a:solidFill>
                <a:latin typeface="IBM Plex Sans" pitchFamily="34" charset="0"/>
                <a:ea typeface="IBM Plex Sans" pitchFamily="34" charset="-122"/>
                <a:cs typeface="IBM Plex Sans" pitchFamily="34" charset="-120"/>
              </a:rPr>
              <a:t>Step 1</a:t>
            </a:r>
            <a:endParaRPr lang="en-US" sz="1200" dirty="0"/>
          </a:p>
        </p:txBody>
      </p:sp>
      <p:sp>
        <p:nvSpPr>
          <p:cNvPr id="6" name="Text 4"/>
          <p:cNvSpPr/>
          <p:nvPr/>
        </p:nvSpPr>
        <p:spPr>
          <a:xfrm>
            <a:off x="1028700" y="2415431"/>
            <a:ext cx="215836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3262B"/>
                </a:solidFill>
                <a:latin typeface="Bricolage Grotesque" pitchFamily="34" charset="0"/>
                <a:ea typeface="Bricolage Grotesque" pitchFamily="34" charset="-122"/>
                <a:cs typeface="Bricolage Grotesque" pitchFamily="34" charset="-120"/>
              </a:rPr>
              <a:t>Remove duplicates</a:t>
            </a:r>
            <a:endParaRPr lang="en-US" sz="1600" dirty="0"/>
          </a:p>
        </p:txBody>
      </p:sp>
      <p:sp>
        <p:nvSpPr>
          <p:cNvPr id="7" name="Text 5"/>
          <p:cNvSpPr/>
          <p:nvPr/>
        </p:nvSpPr>
        <p:spPr>
          <a:xfrm>
            <a:off x="1028700" y="2735461"/>
            <a:ext cx="215836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E535B"/>
                </a:solidFill>
                <a:latin typeface="IBM Plex Sans" pitchFamily="34" charset="0"/>
                <a:ea typeface="IBM Plex Sans" pitchFamily="34" charset="-122"/>
                <a:cs typeface="IBM Plex Sans" pitchFamily="34" charset="-120"/>
              </a:rPr>
              <a:t>One identical row removed: 1,338 rows become 1,337.</a:t>
            </a:r>
            <a:endParaRPr lang="en-US" sz="1300" dirty="0"/>
          </a:p>
        </p:txBody>
      </p:sp>
      <p:sp>
        <p:nvSpPr>
          <p:cNvPr id="8" name="Shape 6"/>
          <p:cNvSpPr/>
          <p:nvPr/>
        </p:nvSpPr>
        <p:spPr>
          <a:xfrm>
            <a:off x="3498850" y="1916361"/>
            <a:ext cx="2514600" cy="1722041"/>
          </a:xfrm>
          <a:prstGeom prst="roundRect">
            <a:avLst>
              <a:gd name="adj" fmla="val 5531"/>
            </a:avLst>
          </a:prstGeom>
          <a:solidFill>
            <a:srgbClr val="FCFBF9"/>
          </a:solidFill>
          <a:ln w="12700">
            <a:solidFill>
              <a:srgbClr val="DDDAD4"/>
            </a:solidFill>
            <a:prstDash val="solid"/>
          </a:ln>
        </p:spPr>
      </p:sp>
      <p:sp>
        <p:nvSpPr>
          <p:cNvPr id="9" name="Text 7"/>
          <p:cNvSpPr/>
          <p:nvPr/>
        </p:nvSpPr>
        <p:spPr>
          <a:xfrm>
            <a:off x="3708400" y="2125911"/>
            <a:ext cx="215836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A1F"/>
                </a:solidFill>
                <a:latin typeface="IBM Plex Sans" pitchFamily="34" charset="0"/>
                <a:ea typeface="IBM Plex Sans" pitchFamily="34" charset="-122"/>
                <a:cs typeface="IBM Plex Sans" pitchFamily="34" charset="-120"/>
              </a:rPr>
              <a:t>Step 2</a:t>
            </a:r>
            <a:endParaRPr lang="en-US" sz="1200" dirty="0"/>
          </a:p>
        </p:txBody>
      </p:sp>
      <p:sp>
        <p:nvSpPr>
          <p:cNvPr id="10" name="Text 8"/>
          <p:cNvSpPr/>
          <p:nvPr/>
        </p:nvSpPr>
        <p:spPr>
          <a:xfrm>
            <a:off x="3708400" y="2415431"/>
            <a:ext cx="215836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3262B"/>
                </a:solidFill>
                <a:latin typeface="Bricolage Grotesque" pitchFamily="34" charset="0"/>
                <a:ea typeface="Bricolage Grotesque" pitchFamily="34" charset="-122"/>
                <a:cs typeface="Bricolage Grotesque" pitchFamily="34" charset="-120"/>
              </a:rPr>
              <a:t>Encode yes / no</a:t>
            </a:r>
            <a:endParaRPr lang="en-US" sz="1600" dirty="0"/>
          </a:p>
        </p:txBody>
      </p:sp>
      <p:sp>
        <p:nvSpPr>
          <p:cNvPr id="11" name="Text 9"/>
          <p:cNvSpPr/>
          <p:nvPr/>
        </p:nvSpPr>
        <p:spPr>
          <a:xfrm>
            <a:off x="3708400" y="2735461"/>
            <a:ext cx="2158365"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E535B"/>
                </a:solidFill>
                <a:latin typeface="IBM Plex Sans" pitchFamily="34" charset="0"/>
                <a:ea typeface="IBM Plex Sans" pitchFamily="34" charset="-122"/>
                <a:cs typeface="IBM Plex Sans" pitchFamily="34" charset="-120"/>
              </a:rPr>
              <a:t>sex and smoker become 0 or 1, so the model can read them.</a:t>
            </a:r>
            <a:endParaRPr lang="en-US" sz="1300" dirty="0"/>
          </a:p>
        </p:txBody>
      </p:sp>
      <p:sp>
        <p:nvSpPr>
          <p:cNvPr id="12" name="Shape 10"/>
          <p:cNvSpPr/>
          <p:nvPr/>
        </p:nvSpPr>
        <p:spPr>
          <a:xfrm>
            <a:off x="6178550" y="1916361"/>
            <a:ext cx="2514600" cy="1722041"/>
          </a:xfrm>
          <a:prstGeom prst="roundRect">
            <a:avLst>
              <a:gd name="adj" fmla="val 5531"/>
            </a:avLst>
          </a:prstGeom>
          <a:solidFill>
            <a:srgbClr val="FCFBF9"/>
          </a:solidFill>
          <a:ln w="12700">
            <a:solidFill>
              <a:srgbClr val="DDDAD4"/>
            </a:solidFill>
            <a:prstDash val="solid"/>
          </a:ln>
        </p:spPr>
      </p:sp>
      <p:sp>
        <p:nvSpPr>
          <p:cNvPr id="13" name="Text 11"/>
          <p:cNvSpPr/>
          <p:nvPr/>
        </p:nvSpPr>
        <p:spPr>
          <a:xfrm>
            <a:off x="6388100" y="2125911"/>
            <a:ext cx="215836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A1F"/>
                </a:solidFill>
                <a:latin typeface="IBM Plex Sans" pitchFamily="34" charset="0"/>
                <a:ea typeface="IBM Plex Sans" pitchFamily="34" charset="-122"/>
                <a:cs typeface="IBM Plex Sans" pitchFamily="34" charset="-120"/>
              </a:rPr>
              <a:t>Step 3</a:t>
            </a:r>
            <a:endParaRPr lang="en-US" sz="1200" dirty="0"/>
          </a:p>
        </p:txBody>
      </p:sp>
      <p:sp>
        <p:nvSpPr>
          <p:cNvPr id="14" name="Text 12"/>
          <p:cNvSpPr/>
          <p:nvPr/>
        </p:nvSpPr>
        <p:spPr>
          <a:xfrm>
            <a:off x="6388100" y="2415431"/>
            <a:ext cx="215836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3262B"/>
                </a:solidFill>
                <a:latin typeface="Bricolage Grotesque" pitchFamily="34" charset="0"/>
                <a:ea typeface="Bricolage Grotesque" pitchFamily="34" charset="-122"/>
                <a:cs typeface="Bricolage Grotesque" pitchFamily="34" charset="-120"/>
              </a:rPr>
              <a:t>One-hot region</a:t>
            </a:r>
            <a:endParaRPr lang="en-US" sz="1600" dirty="0"/>
          </a:p>
        </p:txBody>
      </p:sp>
      <p:sp>
        <p:nvSpPr>
          <p:cNvPr id="15" name="Text 13"/>
          <p:cNvSpPr/>
          <p:nvPr/>
        </p:nvSpPr>
        <p:spPr>
          <a:xfrm>
            <a:off x="6388100" y="2735461"/>
            <a:ext cx="2158365"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E535B"/>
                </a:solidFill>
                <a:latin typeface="IBM Plex Sans" pitchFamily="34" charset="0"/>
                <a:ea typeface="IBM Plex Sans" pitchFamily="34" charset="-122"/>
                <a:cs typeface="IBM Plex Sans" pitchFamily="34" charset="-120"/>
              </a:rPr>
              <a:t>Four 0 or 1 columns, one per region. Coding regions 0 to 3 would invent an order.</a:t>
            </a:r>
            <a:endParaRPr lang="en-US" sz="1300" dirty="0"/>
          </a:p>
        </p:txBody>
      </p:sp>
      <p:sp>
        <p:nvSpPr>
          <p:cNvPr id="16" name="Shape 14"/>
          <p:cNvSpPr/>
          <p:nvPr/>
        </p:nvSpPr>
        <p:spPr>
          <a:xfrm>
            <a:off x="8858250" y="1916361"/>
            <a:ext cx="2514600" cy="1722041"/>
          </a:xfrm>
          <a:prstGeom prst="roundRect">
            <a:avLst>
              <a:gd name="adj" fmla="val 5531"/>
            </a:avLst>
          </a:prstGeom>
          <a:solidFill>
            <a:srgbClr val="FCFBF9"/>
          </a:solidFill>
          <a:ln w="12700">
            <a:solidFill>
              <a:srgbClr val="DDDAD4"/>
            </a:solidFill>
            <a:prstDash val="solid"/>
          </a:ln>
        </p:spPr>
      </p:sp>
      <p:sp>
        <p:nvSpPr>
          <p:cNvPr id="17" name="Text 15"/>
          <p:cNvSpPr/>
          <p:nvPr/>
        </p:nvSpPr>
        <p:spPr>
          <a:xfrm>
            <a:off x="9067800" y="2125911"/>
            <a:ext cx="215836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A1F"/>
                </a:solidFill>
                <a:latin typeface="IBM Plex Sans" pitchFamily="34" charset="0"/>
                <a:ea typeface="IBM Plex Sans" pitchFamily="34" charset="-122"/>
                <a:cs typeface="IBM Plex Sans" pitchFamily="34" charset="-120"/>
              </a:rPr>
              <a:t>No step 4</a:t>
            </a:r>
            <a:endParaRPr lang="en-US" sz="1200" dirty="0"/>
          </a:p>
        </p:txBody>
      </p:sp>
      <p:sp>
        <p:nvSpPr>
          <p:cNvPr id="18" name="Text 16"/>
          <p:cNvSpPr/>
          <p:nvPr/>
        </p:nvSpPr>
        <p:spPr>
          <a:xfrm>
            <a:off x="9067800" y="2415431"/>
            <a:ext cx="215836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3262B"/>
                </a:solidFill>
                <a:latin typeface="Bricolage Grotesque" pitchFamily="34" charset="0"/>
                <a:ea typeface="Bricolage Grotesque" pitchFamily="34" charset="-122"/>
                <a:cs typeface="Bricolage Grotesque" pitchFamily="34" charset="-120"/>
              </a:rPr>
              <a:t>No scaling</a:t>
            </a:r>
            <a:endParaRPr lang="en-US" sz="1600" dirty="0"/>
          </a:p>
        </p:txBody>
      </p:sp>
      <p:sp>
        <p:nvSpPr>
          <p:cNvPr id="19" name="Text 17"/>
          <p:cNvSpPr/>
          <p:nvPr/>
        </p:nvSpPr>
        <p:spPr>
          <a:xfrm>
            <a:off x="9067800" y="2735461"/>
            <a:ext cx="2158365"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E535B"/>
                </a:solidFill>
                <a:latin typeface="IBM Plex Sans" pitchFamily="34" charset="0"/>
                <a:ea typeface="IBM Plex Sans" pitchFamily="34" charset="-122"/>
                <a:cs typeface="IBM Plex Sans" pitchFamily="34" charset="-120"/>
              </a:rPr>
              <a:t>A tree compares one value with a cut point, so units never change the split.</a:t>
            </a:r>
            <a:endParaRPr lang="en-US" sz="1300" dirty="0"/>
          </a:p>
        </p:txBody>
      </p:sp>
      <p:sp>
        <p:nvSpPr>
          <p:cNvPr id="20" name="Text 18"/>
          <p:cNvSpPr/>
          <p:nvPr/>
        </p:nvSpPr>
        <p:spPr>
          <a:xfrm>
            <a:off x="812800" y="3966071"/>
            <a:ext cx="9398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6B7078"/>
                </a:solidFill>
                <a:latin typeface="IBM Plex Sans" pitchFamily="34" charset="0"/>
                <a:ea typeface="IBM Plex Sans" pitchFamily="34" charset="-122"/>
                <a:cs typeface="IBM Plex Sans" pitchFamily="34" charset="-120"/>
              </a:rPr>
              <a:t>Before</a:t>
            </a:r>
            <a:endParaRPr lang="en-US" sz="1400" dirty="0"/>
          </a:p>
        </p:txBody>
      </p:sp>
      <p:sp>
        <p:nvSpPr>
          <p:cNvPr id="21" name="Text 19"/>
          <p:cNvSpPr/>
          <p:nvPr/>
        </p:nvSpPr>
        <p:spPr>
          <a:xfrm>
            <a:off x="1784350" y="3930501"/>
            <a:ext cx="727224" cy="320030"/>
          </a:xfrm>
          <a:prstGeom prst="roundRect">
            <a:avLst>
              <a:gd name="adj" fmla="val 13889"/>
            </a:avLst>
          </a:prstGeom>
          <a:solidFill>
            <a:srgbClr val="FCFBF9"/>
          </a:solidFill>
          <a:ln w="12700">
            <a:solidFill>
              <a:srgbClr val="DDDAD4"/>
            </a:solidFill>
            <a:prstDash val="solid"/>
          </a:ln>
        </p:spPr>
        <p:txBody>
          <a:bodyPr wrap="none" lIns="0" tIns="0" rIns="0" bIns="0" rtlCol="0" anchor="ctr">
            <a:normAutofit/>
          </a:bodyPr>
          <a:lstStyle/>
          <a:p>
            <a:pPr algn="ctr" indent="0" marL="0">
              <a:lnSpc>
                <a:spcPts val="1820"/>
              </a:lnSpc>
              <a:buNone/>
            </a:pPr>
            <a:r>
              <a:rPr lang="en-US" sz="1300" dirty="0">
                <a:solidFill>
                  <a:srgbClr val="23262B"/>
                </a:solidFill>
                <a:latin typeface="IBM Plex Sans" pitchFamily="34" charset="0"/>
                <a:ea typeface="IBM Plex Sans" pitchFamily="34" charset="-122"/>
                <a:cs typeface="IBM Plex Sans" pitchFamily="34" charset="-120"/>
              </a:rPr>
              <a:t>female</a:t>
            </a:r>
            <a:endParaRPr lang="en-US" sz="1300" dirty="0"/>
          </a:p>
        </p:txBody>
      </p:sp>
      <p:sp>
        <p:nvSpPr>
          <p:cNvPr id="22" name="Text 20"/>
          <p:cNvSpPr/>
          <p:nvPr/>
        </p:nvSpPr>
        <p:spPr>
          <a:xfrm>
            <a:off x="2600474" y="3930501"/>
            <a:ext cx="468511" cy="320030"/>
          </a:xfrm>
          <a:prstGeom prst="roundRect">
            <a:avLst>
              <a:gd name="adj" fmla="val 13889"/>
            </a:avLst>
          </a:prstGeom>
          <a:solidFill>
            <a:srgbClr val="FCFBF9"/>
          </a:solidFill>
          <a:ln w="12700">
            <a:solidFill>
              <a:srgbClr val="DDDAD4"/>
            </a:solidFill>
            <a:prstDash val="solid"/>
          </a:ln>
        </p:spPr>
        <p:txBody>
          <a:bodyPr wrap="none" lIns="0" tIns="0" rIns="0" bIns="0" rtlCol="0" anchor="ctr">
            <a:normAutofit/>
          </a:bodyPr>
          <a:lstStyle/>
          <a:p>
            <a:pPr algn="ctr" indent="0" marL="0">
              <a:lnSpc>
                <a:spcPts val="1820"/>
              </a:lnSpc>
              <a:buNone/>
            </a:pPr>
            <a:r>
              <a:rPr lang="en-US" sz="1300" dirty="0">
                <a:solidFill>
                  <a:srgbClr val="23262B"/>
                </a:solidFill>
                <a:latin typeface="IBM Plex Sans" pitchFamily="34" charset="0"/>
                <a:ea typeface="IBM Plex Sans" pitchFamily="34" charset="-122"/>
                <a:cs typeface="IBM Plex Sans" pitchFamily="34" charset="-120"/>
              </a:rPr>
              <a:t>yes</a:t>
            </a:r>
            <a:endParaRPr lang="en-US" sz="1300" dirty="0"/>
          </a:p>
        </p:txBody>
      </p:sp>
      <p:sp>
        <p:nvSpPr>
          <p:cNvPr id="23" name="Text 21"/>
          <p:cNvSpPr/>
          <p:nvPr/>
        </p:nvSpPr>
        <p:spPr>
          <a:xfrm>
            <a:off x="3157885" y="3930501"/>
            <a:ext cx="987276" cy="320030"/>
          </a:xfrm>
          <a:prstGeom prst="roundRect">
            <a:avLst>
              <a:gd name="adj" fmla="val 13889"/>
            </a:avLst>
          </a:prstGeom>
          <a:solidFill>
            <a:srgbClr val="FCFBF9"/>
          </a:solidFill>
          <a:ln w="12700">
            <a:solidFill>
              <a:srgbClr val="DDDAD4"/>
            </a:solidFill>
            <a:prstDash val="solid"/>
          </a:ln>
        </p:spPr>
        <p:txBody>
          <a:bodyPr wrap="none" lIns="0" tIns="0" rIns="0" bIns="0" rtlCol="0" anchor="ctr">
            <a:normAutofit/>
          </a:bodyPr>
          <a:lstStyle/>
          <a:p>
            <a:pPr algn="ctr" indent="0" marL="0">
              <a:lnSpc>
                <a:spcPts val="1820"/>
              </a:lnSpc>
              <a:buNone/>
            </a:pPr>
            <a:r>
              <a:rPr lang="en-US" sz="1300" dirty="0">
                <a:solidFill>
                  <a:srgbClr val="23262B"/>
                </a:solidFill>
                <a:latin typeface="IBM Plex Sans" pitchFamily="34" charset="0"/>
                <a:ea typeface="IBM Plex Sans" pitchFamily="34" charset="-122"/>
                <a:cs typeface="IBM Plex Sans" pitchFamily="34" charset="-120"/>
              </a:rPr>
              <a:t>southwest</a:t>
            </a:r>
            <a:endParaRPr lang="en-US" sz="1300" dirty="0"/>
          </a:p>
        </p:txBody>
      </p:sp>
      <p:sp>
        <p:nvSpPr>
          <p:cNvPr id="24" name="Text 22"/>
          <p:cNvSpPr/>
          <p:nvPr/>
        </p:nvSpPr>
        <p:spPr>
          <a:xfrm>
            <a:off x="812800" y="4400401"/>
            <a:ext cx="9398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6B7078"/>
                </a:solidFill>
                <a:latin typeface="IBM Plex Sans" pitchFamily="34" charset="0"/>
                <a:ea typeface="IBM Plex Sans" pitchFamily="34" charset="-122"/>
                <a:cs typeface="IBM Plex Sans" pitchFamily="34" charset="-120"/>
              </a:rPr>
              <a:t>After</a:t>
            </a:r>
            <a:endParaRPr lang="en-US" sz="1400" dirty="0"/>
          </a:p>
        </p:txBody>
      </p:sp>
      <p:sp>
        <p:nvSpPr>
          <p:cNvPr id="25" name="Text 23"/>
          <p:cNvSpPr/>
          <p:nvPr/>
        </p:nvSpPr>
        <p:spPr>
          <a:xfrm>
            <a:off x="1784350" y="4364831"/>
            <a:ext cx="606723" cy="320030"/>
          </a:xfrm>
          <a:prstGeom prst="roundRect">
            <a:avLst>
              <a:gd name="adj" fmla="val 13889"/>
            </a:avLst>
          </a:prstGeom>
          <a:solidFill>
            <a:srgbClr val="FCFBF9"/>
          </a:solidFill>
          <a:ln w="12700">
            <a:solidFill>
              <a:srgbClr val="DDDAD4"/>
            </a:solidFill>
            <a:prstDash val="solid"/>
          </a:ln>
        </p:spPr>
        <p:txBody>
          <a:bodyPr wrap="none" lIns="0" tIns="0" rIns="0" bIns="0" rtlCol="0" anchor="ctr">
            <a:normAutofit/>
          </a:bodyPr>
          <a:lstStyle/>
          <a:p>
            <a:pPr algn="ctr" indent="0" marL="0">
              <a:lnSpc>
                <a:spcPts val="1820"/>
              </a:lnSpc>
              <a:buNone/>
            </a:pPr>
            <a:r>
              <a:rPr lang="en-US" sz="1300" dirty="0">
                <a:solidFill>
                  <a:srgbClr val="23262B"/>
                </a:solidFill>
                <a:latin typeface="IBM Plex Sans" pitchFamily="34" charset="0"/>
                <a:ea typeface="IBM Plex Sans" pitchFamily="34" charset="-122"/>
                <a:cs typeface="IBM Plex Sans" pitchFamily="34" charset="-120"/>
              </a:rPr>
              <a:t>sex 0</a:t>
            </a:r>
            <a:endParaRPr lang="en-US" sz="1300" dirty="0"/>
          </a:p>
        </p:txBody>
      </p:sp>
      <p:sp>
        <p:nvSpPr>
          <p:cNvPr id="26" name="Text 24"/>
          <p:cNvSpPr/>
          <p:nvPr/>
        </p:nvSpPr>
        <p:spPr>
          <a:xfrm>
            <a:off x="2479973" y="4364831"/>
            <a:ext cx="906363" cy="320030"/>
          </a:xfrm>
          <a:prstGeom prst="roundRect">
            <a:avLst>
              <a:gd name="adj" fmla="val 13889"/>
            </a:avLst>
          </a:prstGeom>
          <a:solidFill>
            <a:srgbClr val="F1E7CF"/>
          </a:solidFill>
          <a:ln w="12700">
            <a:solidFill>
              <a:srgbClr val="C9A24D"/>
            </a:solidFill>
            <a:prstDash val="solid"/>
          </a:ln>
        </p:spPr>
        <p:txBody>
          <a:bodyPr wrap="none" lIns="0" tIns="0" rIns="0" bIns="0" rtlCol="0" anchor="ctr">
            <a:normAutofit/>
          </a:bodyPr>
          <a:lstStyle/>
          <a:p>
            <a:pPr algn="ctr" indent="0" marL="0">
              <a:lnSpc>
                <a:spcPts val="1820"/>
              </a:lnSpc>
              <a:buNone/>
            </a:pPr>
            <a:r>
              <a:rPr lang="en-US" sz="1300" dirty="0">
                <a:solidFill>
                  <a:srgbClr val="23262B"/>
                </a:solidFill>
                <a:latin typeface="IBM Plex Sans" pitchFamily="34" charset="0"/>
                <a:ea typeface="IBM Plex Sans" pitchFamily="34" charset="-122"/>
                <a:cs typeface="IBM Plex Sans" pitchFamily="34" charset="-120"/>
              </a:rPr>
              <a:t>smoker 1</a:t>
            </a:r>
            <a:endParaRPr lang="en-US" sz="1300" dirty="0"/>
          </a:p>
        </p:txBody>
      </p:sp>
      <p:sp>
        <p:nvSpPr>
          <p:cNvPr id="27" name="Text 25"/>
          <p:cNvSpPr/>
          <p:nvPr/>
        </p:nvSpPr>
        <p:spPr>
          <a:xfrm>
            <a:off x="3475236" y="4364831"/>
            <a:ext cx="1069181" cy="320030"/>
          </a:xfrm>
          <a:prstGeom prst="roundRect">
            <a:avLst>
              <a:gd name="adj" fmla="val 13889"/>
            </a:avLst>
          </a:prstGeom>
          <a:solidFill>
            <a:srgbClr val="FCFBF9"/>
          </a:solidFill>
          <a:ln w="12700">
            <a:solidFill>
              <a:srgbClr val="DDDAD4"/>
            </a:solidFill>
            <a:prstDash val="solid"/>
          </a:ln>
        </p:spPr>
        <p:txBody>
          <a:bodyPr wrap="none" lIns="0" tIns="0" rIns="0" bIns="0" rtlCol="0" anchor="ctr">
            <a:normAutofit/>
          </a:bodyPr>
          <a:lstStyle/>
          <a:p>
            <a:pPr algn="ctr" indent="0" marL="0">
              <a:lnSpc>
                <a:spcPts val="1820"/>
              </a:lnSpc>
              <a:buNone/>
            </a:pPr>
            <a:r>
              <a:rPr lang="en-US" sz="1300" dirty="0">
                <a:solidFill>
                  <a:srgbClr val="23262B"/>
                </a:solidFill>
                <a:latin typeface="IBM Plex Sans" pitchFamily="34" charset="0"/>
                <a:ea typeface="IBM Plex Sans" pitchFamily="34" charset="-122"/>
                <a:cs typeface="IBM Plex Sans" pitchFamily="34" charset="-120"/>
              </a:rPr>
              <a:t>northeast 0</a:t>
            </a:r>
            <a:endParaRPr lang="en-US" sz="1300" dirty="0"/>
          </a:p>
        </p:txBody>
      </p:sp>
      <p:sp>
        <p:nvSpPr>
          <p:cNvPr id="28" name="Text 26"/>
          <p:cNvSpPr/>
          <p:nvPr/>
        </p:nvSpPr>
        <p:spPr>
          <a:xfrm>
            <a:off x="4633317" y="4364831"/>
            <a:ext cx="1106140" cy="320030"/>
          </a:xfrm>
          <a:prstGeom prst="roundRect">
            <a:avLst>
              <a:gd name="adj" fmla="val 13889"/>
            </a:avLst>
          </a:prstGeom>
          <a:solidFill>
            <a:srgbClr val="FCFBF9"/>
          </a:solidFill>
          <a:ln w="12700">
            <a:solidFill>
              <a:srgbClr val="DDDAD4"/>
            </a:solidFill>
            <a:prstDash val="solid"/>
          </a:ln>
        </p:spPr>
        <p:txBody>
          <a:bodyPr wrap="none" lIns="0" tIns="0" rIns="0" bIns="0" rtlCol="0" anchor="ctr">
            <a:normAutofit/>
          </a:bodyPr>
          <a:lstStyle/>
          <a:p>
            <a:pPr algn="ctr" indent="0" marL="0">
              <a:lnSpc>
                <a:spcPts val="1820"/>
              </a:lnSpc>
              <a:buNone/>
            </a:pPr>
            <a:r>
              <a:rPr lang="en-US" sz="1300" dirty="0">
                <a:solidFill>
                  <a:srgbClr val="23262B"/>
                </a:solidFill>
                <a:latin typeface="IBM Plex Sans" pitchFamily="34" charset="0"/>
                <a:ea typeface="IBM Plex Sans" pitchFamily="34" charset="-122"/>
                <a:cs typeface="IBM Plex Sans" pitchFamily="34" charset="-120"/>
              </a:rPr>
              <a:t>northwest 0</a:t>
            </a:r>
            <a:endParaRPr lang="en-US" sz="1300" dirty="0"/>
          </a:p>
        </p:txBody>
      </p:sp>
      <p:sp>
        <p:nvSpPr>
          <p:cNvPr id="29" name="Text 27"/>
          <p:cNvSpPr/>
          <p:nvPr/>
        </p:nvSpPr>
        <p:spPr>
          <a:xfrm>
            <a:off x="5828357" y="4364831"/>
            <a:ext cx="1088330" cy="320030"/>
          </a:xfrm>
          <a:prstGeom prst="roundRect">
            <a:avLst>
              <a:gd name="adj" fmla="val 13889"/>
            </a:avLst>
          </a:prstGeom>
          <a:solidFill>
            <a:srgbClr val="FCFBF9"/>
          </a:solidFill>
          <a:ln w="12700">
            <a:solidFill>
              <a:srgbClr val="DDDAD4"/>
            </a:solidFill>
            <a:prstDash val="solid"/>
          </a:ln>
        </p:spPr>
        <p:txBody>
          <a:bodyPr wrap="none" lIns="0" tIns="0" rIns="0" bIns="0" rtlCol="0" anchor="ctr">
            <a:normAutofit/>
          </a:bodyPr>
          <a:lstStyle/>
          <a:p>
            <a:pPr algn="ctr" indent="0" marL="0">
              <a:lnSpc>
                <a:spcPts val="1820"/>
              </a:lnSpc>
              <a:buNone/>
            </a:pPr>
            <a:r>
              <a:rPr lang="en-US" sz="1300" dirty="0">
                <a:solidFill>
                  <a:srgbClr val="23262B"/>
                </a:solidFill>
                <a:latin typeface="IBM Plex Sans" pitchFamily="34" charset="0"/>
                <a:ea typeface="IBM Plex Sans" pitchFamily="34" charset="-122"/>
                <a:cs typeface="IBM Plex Sans" pitchFamily="34" charset="-120"/>
              </a:rPr>
              <a:t>southeast 0</a:t>
            </a:r>
            <a:endParaRPr lang="en-US" sz="1300" dirty="0"/>
          </a:p>
        </p:txBody>
      </p:sp>
      <p:sp>
        <p:nvSpPr>
          <p:cNvPr id="30" name="Text 28"/>
          <p:cNvSpPr/>
          <p:nvPr/>
        </p:nvSpPr>
        <p:spPr>
          <a:xfrm>
            <a:off x="7005588" y="4364831"/>
            <a:ext cx="1125289" cy="320030"/>
          </a:xfrm>
          <a:prstGeom prst="roundRect">
            <a:avLst>
              <a:gd name="adj" fmla="val 13889"/>
            </a:avLst>
          </a:prstGeom>
          <a:solidFill>
            <a:srgbClr val="F1E7CF"/>
          </a:solidFill>
          <a:ln w="12700">
            <a:solidFill>
              <a:srgbClr val="C9A24D"/>
            </a:solidFill>
            <a:prstDash val="solid"/>
          </a:ln>
        </p:spPr>
        <p:txBody>
          <a:bodyPr wrap="none" lIns="0" tIns="0" rIns="0" bIns="0" rtlCol="0" anchor="ctr">
            <a:normAutofit/>
          </a:bodyPr>
          <a:lstStyle/>
          <a:p>
            <a:pPr algn="ctr" indent="0" marL="0">
              <a:lnSpc>
                <a:spcPts val="1820"/>
              </a:lnSpc>
              <a:buNone/>
            </a:pPr>
            <a:r>
              <a:rPr lang="en-US" sz="1300" dirty="0">
                <a:solidFill>
                  <a:srgbClr val="23262B"/>
                </a:solidFill>
                <a:latin typeface="IBM Plex Sans" pitchFamily="34" charset="0"/>
                <a:ea typeface="IBM Plex Sans" pitchFamily="34" charset="-122"/>
                <a:cs typeface="IBM Plex Sans" pitchFamily="34" charset="-120"/>
              </a:rPr>
              <a:t>southwest 1</a:t>
            </a:r>
            <a:endParaRPr lang="en-US" sz="1300" dirty="0"/>
          </a:p>
        </p:txBody>
      </p:sp>
      <p:sp>
        <p:nvSpPr>
          <p:cNvPr id="31" name="Text 2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IBM Plex Sans" pitchFamily="34" charset="0"/>
                <a:ea typeface="IBM Plex Sans" pitchFamily="34" charset="-122"/>
                <a:cs typeface="IBM Plex Sans" pitchFamily="34" charset="-120"/>
              </a:rPr>
              <a:t>Preprocessing · Group 5 · Decision Tree Regression</a:t>
            </a:r>
            <a:endParaRPr lang="en-US" sz="1200" dirty="0"/>
          </a:p>
        </p:txBody>
      </p:sp>
      <p:sp>
        <p:nvSpPr>
          <p:cNvPr id="32" name="Text 3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078"/>
                </a:solidFill>
                <a:latin typeface="IBM Plex Sans" pitchFamily="34" charset="0"/>
                <a:ea typeface="IBM Plex Sans" pitchFamily="34" charset="-122"/>
                <a:cs typeface="IBM Plex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4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F"/>
                </a:solidFill>
                <a:latin typeface="IBM Plex Sans" pitchFamily="34" charset="0"/>
                <a:ea typeface="IBM Plex Sans" pitchFamily="34" charset="-122"/>
                <a:cs typeface="IBM Plex Sans" pitchFamily="34" charset="-120"/>
              </a:rPr>
              <a:t>MODEL TRAINING</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23262B"/>
                </a:solidFill>
                <a:latin typeface="Bricolage Grotesque" pitchFamily="34" charset="0"/>
                <a:ea typeface="Bricolage Grotesque" pitchFamily="34" charset="-122"/>
                <a:cs typeface="Bricolage Grotesque" pitchFamily="34" charset="-120"/>
              </a:rPr>
              <a:t>Training the model</a:t>
            </a:r>
            <a:endParaRPr lang="en-US" sz="3600" dirty="0"/>
          </a:p>
        </p:txBody>
      </p:sp>
      <p:sp>
        <p:nvSpPr>
          <p:cNvPr id="4" name="Text 2"/>
          <p:cNvSpPr/>
          <p:nvPr/>
        </p:nvSpPr>
        <p:spPr>
          <a:xfrm>
            <a:off x="812800" y="1884611"/>
            <a:ext cx="8451850" cy="482600"/>
          </a:xfrm>
          <a:custGeom>
            <a:avLst/>
            <a:gdLst/>
            <a:ahLst/>
            <a:cxnLst/>
            <a:rect l="l" t="t" r="r" b="b"/>
            <a:pathLst>
              <a:path w="8451850" h="482600">
                <a:moveTo>
                  <a:pt x="63500" y="0"/>
                </a:moveTo>
                <a:lnTo>
                  <a:pt x="8451850" y="0"/>
                </a:lnTo>
                <a:lnTo>
                  <a:pt x="8451850" y="482600"/>
                </a:lnTo>
                <a:lnTo>
                  <a:pt x="63500" y="482600"/>
                </a:lnTo>
                <a:arcTo hR="63500" wR="63500" stAng="5400000" swAng="5400000"/>
                <a:lnTo>
                  <a:pt x="0" y="63500"/>
                </a:lnTo>
                <a:arcTo hR="63500" wR="63500" stAng="10800000" swAng="5400000"/>
                <a:close/>
              </a:path>
            </a:pathLst>
          </a:custGeom>
          <a:solidFill>
            <a:srgbClr val="6B9E78"/>
          </a:solidFill>
          <a:ln/>
        </p:spPr>
        <p:txBody>
          <a:bodyPr wrap="square" lIns="177800" tIns="0" rIns="177800" bIns="0" rtlCol="0" anchor="ctr">
            <a:normAutofit/>
          </a:bodyPr>
          <a:lstStyle/>
          <a:p>
            <a:pPr algn="l" indent="0" marL="0">
              <a:lnSpc>
                <a:spcPts val="1960"/>
              </a:lnSpc>
              <a:buNone/>
            </a:pPr>
            <a:r>
              <a:rPr lang="en-US" sz="1400" b="1" dirty="0">
                <a:solidFill>
                  <a:srgbClr val="1E2A22"/>
                </a:solidFill>
                <a:latin typeface="IBM Plex Sans" pitchFamily="34" charset="0"/>
                <a:ea typeface="IBM Plex Sans" pitchFamily="34" charset="-122"/>
                <a:cs typeface="IBM Plex Sans" pitchFamily="34" charset="-120"/>
              </a:rPr>
              <a:t>1,069 training customers (80%)</a:t>
            </a:r>
            <a:endParaRPr lang="en-US" sz="1400" dirty="0"/>
          </a:p>
        </p:txBody>
      </p:sp>
      <p:sp>
        <p:nvSpPr>
          <p:cNvPr id="5" name="Text 3"/>
          <p:cNvSpPr/>
          <p:nvPr/>
        </p:nvSpPr>
        <p:spPr>
          <a:xfrm>
            <a:off x="9264650" y="1884611"/>
            <a:ext cx="2114550" cy="482600"/>
          </a:xfrm>
          <a:custGeom>
            <a:avLst/>
            <a:gdLst/>
            <a:ahLst/>
            <a:cxnLst/>
            <a:rect l="l" t="t" r="r" b="b"/>
            <a:pathLst>
              <a:path w="2114550" h="482600">
                <a:moveTo>
                  <a:pt x="0" y="0"/>
                </a:moveTo>
                <a:lnTo>
                  <a:pt x="2051050" y="0"/>
                </a:lnTo>
                <a:arcTo hR="63500" wR="63500" stAng="16200000" swAng="5400000"/>
                <a:lnTo>
                  <a:pt x="2114550" y="419100"/>
                </a:lnTo>
                <a:arcTo hR="63500" wR="63500" stAng="0" swAng="5400000"/>
                <a:lnTo>
                  <a:pt x="0" y="482600"/>
                </a:lnTo>
                <a:lnTo>
                  <a:pt x="0" y="0"/>
                </a:lnTo>
                <a:close/>
              </a:path>
            </a:pathLst>
          </a:custGeom>
          <a:solidFill>
            <a:srgbClr val="C9A24D"/>
          </a:solidFill>
          <a:ln/>
        </p:spPr>
        <p:txBody>
          <a:bodyPr wrap="square" lIns="152400" tIns="0" rIns="152400" bIns="0" rtlCol="0" anchor="ctr">
            <a:normAutofit/>
          </a:bodyPr>
          <a:lstStyle/>
          <a:p>
            <a:pPr algn="l" indent="0" marL="0">
              <a:lnSpc>
                <a:spcPts val="1960"/>
              </a:lnSpc>
              <a:buNone/>
            </a:pPr>
            <a:r>
              <a:rPr lang="en-US" sz="1400" b="1" dirty="0">
                <a:solidFill>
                  <a:srgbClr val="2A2412"/>
                </a:solidFill>
                <a:latin typeface="IBM Plex Sans" pitchFamily="34" charset="0"/>
                <a:ea typeface="IBM Plex Sans" pitchFamily="34" charset="-122"/>
                <a:cs typeface="IBM Plex Sans" pitchFamily="34" charset="-120"/>
              </a:rPr>
              <a:t>268 test (20%)</a:t>
            </a:r>
            <a:endParaRPr lang="en-US" sz="1400" dirty="0"/>
          </a:p>
        </p:txBody>
      </p:sp>
      <p:sp>
        <p:nvSpPr>
          <p:cNvPr id="6" name="Text 4"/>
          <p:cNvSpPr/>
          <p:nvPr/>
        </p:nvSpPr>
        <p:spPr>
          <a:xfrm>
            <a:off x="812800" y="2456111"/>
            <a:ext cx="113792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E535B"/>
                </a:solidFill>
                <a:latin typeface="IBM Plex Sans" pitchFamily="34" charset="0"/>
                <a:ea typeface="IBM Plex Sans" pitchFamily="34" charset="-122"/>
                <a:cs typeface="IBM Plex Sans" pitchFamily="34" charset="-120"/>
              </a:rPr>
              <a:t>The model learns only from the training customers. The test customers stay hidden until evaluation, like an exam it has never seen.</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2971701"/>
          <a:ext cx="10553700" cy="1930053"/>
        </p:xfrm>
        <a:graphic>
          <a:graphicData uri="http://schemas.openxmlformats.org/drawingml/2006/table">
            <a:tbl>
              <a:tblPr/>
              <a:tblGrid>
                <a:gridCol w="2955036"/>
                <a:gridCol w="1055370"/>
                <a:gridCol w="6543294"/>
              </a:tblGrid>
              <a:tr h="386011">
                <a:tc>
                  <a:txBody>
                    <a:bodyPr/>
                    <a:lstStyle/>
                    <a:p>
                      <a:pPr indent="0" marL="0">
                        <a:lnSpc>
                          <a:spcPts val="1960"/>
                        </a:lnSpc>
                        <a:buNone/>
                      </a:pPr>
                      <a:r>
                        <a:rPr lang="en-US" sz="1400" b="1" dirty="0">
                          <a:solidFill>
                            <a:srgbClr val="23262B"/>
                          </a:solidFill>
                          <a:latin typeface="IBM Plex Sans" pitchFamily="34" charset="0"/>
                          <a:ea typeface="IBM Plex Sans" pitchFamily="34" charset="-122"/>
                          <a:cs typeface="IBM Plex Sans" pitchFamily="34" charset="-120"/>
                        </a:rPr>
                        <a:t>Setting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C0"/>
                      </a:solidFill>
                      <a:prstDash val="solid"/>
                      <a:round/>
                      <a:headEnd type="none" w="med" len="med"/>
                      <a:tailEnd type="none" w="med" len="med"/>
                    </a:lnL>
                    <a:lnR w="12700" cap="flat" cmpd="sng" algn="ctr">
                      <a:solidFill>
                        <a:srgbClr val="B5B5B2"/>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B5B5B2"/>
                      </a:solidFill>
                      <a:prstDash val="solid"/>
                      <a:round/>
                      <a:headEnd type="none" w="med" len="med"/>
                      <a:tailEnd type="none" w="med" len="med"/>
                    </a:lnB>
                    <a:solidFill>
                      <a:srgbClr val="E3E2DF"/>
                    </a:solidFill>
                  </a:tcPr>
                </a:tc>
                <a:tc>
                  <a:txBody>
                    <a:bodyPr/>
                    <a:lstStyle/>
                    <a:p>
                      <a:pPr indent="0" marL="0">
                        <a:lnSpc>
                          <a:spcPts val="1960"/>
                        </a:lnSpc>
                        <a:buNone/>
                      </a:pPr>
                      <a:r>
                        <a:rPr lang="en-US" sz="1400" b="1" dirty="0">
                          <a:solidFill>
                            <a:srgbClr val="23262B"/>
                          </a:solidFill>
                          <a:latin typeface="IBM Plex Sans" pitchFamily="34" charset="0"/>
                          <a:ea typeface="IBM Plex Sans" pitchFamily="34" charset="-122"/>
                          <a:cs typeface="IBM Plex Sans" pitchFamily="34" charset="-120"/>
                        </a:rPr>
                        <a:t>Value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5B2"/>
                      </a:solidFill>
                      <a:prstDash val="solid"/>
                      <a:round/>
                      <a:headEnd type="none" w="med" len="med"/>
                      <a:tailEnd type="none" w="med" len="med"/>
                    </a:lnL>
                    <a:lnR w="12700" cap="flat" cmpd="sng" algn="ctr">
                      <a:solidFill>
                        <a:srgbClr val="B5B5B2"/>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B5B5B2"/>
                      </a:solidFill>
                      <a:prstDash val="solid"/>
                      <a:round/>
                      <a:headEnd type="none" w="med" len="med"/>
                      <a:tailEnd type="none" w="med" len="med"/>
                    </a:lnB>
                    <a:solidFill>
                      <a:srgbClr val="E3E2DF"/>
                    </a:solidFill>
                  </a:tcPr>
                </a:tc>
                <a:tc>
                  <a:txBody>
                    <a:bodyPr/>
                    <a:lstStyle/>
                    <a:p>
                      <a:pPr indent="0" marL="0">
                        <a:lnSpc>
                          <a:spcPts val="1960"/>
                        </a:lnSpc>
                        <a:buNone/>
                      </a:pPr>
                      <a:r>
                        <a:rPr lang="en-US" sz="1400" b="1" dirty="0">
                          <a:solidFill>
                            <a:srgbClr val="23262B"/>
                          </a:solidFill>
                          <a:latin typeface="IBM Plex Sans" pitchFamily="34" charset="0"/>
                          <a:ea typeface="IBM Plex Sans" pitchFamily="34" charset="-122"/>
                          <a:cs typeface="IBM Plex Sans" pitchFamily="34" charset="-120"/>
                        </a:rPr>
                        <a:t>What it means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5B2"/>
                      </a:solidFill>
                      <a:prstDash val="solid"/>
                      <a:round/>
                      <a:headEnd type="none" w="med" len="med"/>
                      <a:tailEnd type="none" w="med" len="med"/>
                    </a:lnL>
                    <a:lnR w="12700" cap="flat" cmpd="sng" algn="ctr">
                      <a:solidFill>
                        <a:srgbClr val="B5B5B2"/>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B5B5B2"/>
                      </a:solidFill>
                      <a:prstDash val="solid"/>
                      <a:round/>
                      <a:headEnd type="none" w="med" len="med"/>
                      <a:tailEnd type="none" w="med" len="med"/>
                    </a:lnB>
                    <a:solidFill>
                      <a:srgbClr val="E3E2DF"/>
                    </a:solidFill>
                  </a:tcPr>
                </a:tc>
              </a:tr>
              <a:tr h="386011">
                <a:tc>
                  <a:txBody>
                    <a:bodyPr/>
                    <a:lstStyle/>
                    <a:p>
                      <a:pPr indent="0" marL="0">
                        <a:lnSpc>
                          <a:spcPts val="1960"/>
                        </a:lnSpc>
                        <a:buNone/>
                      </a:pPr>
                      <a:r>
                        <a:rPr lang="en-US" sz="1400" dirty="0">
                          <a:solidFill>
                            <a:srgbClr val="23262B"/>
                          </a:solidFill>
                          <a:latin typeface="IBM Plex Sans" pitchFamily="34" charset="0"/>
                          <a:ea typeface="IBM Plex Sans" pitchFamily="34" charset="-122"/>
                          <a:cs typeface="IBM Plex Sans" pitchFamily="34" charset="-120"/>
                        </a:rPr>
                        <a:t>max_depth</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B5B5B2"/>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c>
                  <a:txBody>
                    <a:bodyPr/>
                    <a:lstStyle/>
                    <a:p>
                      <a:pPr indent="0" marL="0">
                        <a:lnSpc>
                          <a:spcPts val="1960"/>
                        </a:lnSpc>
                        <a:buNone/>
                      </a:pPr>
                      <a:r>
                        <a:rPr lang="en-US" sz="1400" dirty="0">
                          <a:solidFill>
                            <a:srgbClr val="23262B"/>
                          </a:solidFill>
                          <a:latin typeface="IBM Plex Sans" pitchFamily="34" charset="0"/>
                          <a:ea typeface="IBM Plex Sans" pitchFamily="34" charset="-122"/>
                          <a:cs typeface="IBM Plex Sans" pitchFamily="34" charset="-120"/>
                        </a:rPr>
                        <a:t>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B5B5B2"/>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c>
                  <a:txBody>
                    <a:bodyPr/>
                    <a:lstStyle/>
                    <a:p>
                      <a:pPr indent="0" marL="0">
                        <a:lnSpc>
                          <a:spcPts val="1960"/>
                        </a:lnSpc>
                        <a:buNone/>
                      </a:pPr>
                      <a:r>
                        <a:rPr lang="en-US" sz="1400" dirty="0">
                          <a:solidFill>
                            <a:srgbClr val="23262B"/>
                          </a:solidFill>
                          <a:latin typeface="IBM Plex Sans" pitchFamily="34" charset="0"/>
                          <a:ea typeface="IBM Plex Sans" pitchFamily="34" charset="-122"/>
                          <a:cs typeface="IBM Plex Sans" pitchFamily="34" charset="-120"/>
                        </a:rPr>
                        <a:t>At most 5 questions in a row</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B5B5B2"/>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r>
              <a:tr h="386011">
                <a:tc>
                  <a:txBody>
                    <a:bodyPr/>
                    <a:lstStyle/>
                    <a:p>
                      <a:pPr indent="0" marL="0">
                        <a:lnSpc>
                          <a:spcPts val="1960"/>
                        </a:lnSpc>
                        <a:buNone/>
                      </a:pPr>
                      <a:r>
                        <a:rPr lang="en-US" sz="1400" dirty="0">
                          <a:solidFill>
                            <a:srgbClr val="23262B"/>
                          </a:solidFill>
                          <a:latin typeface="IBM Plex Sans" pitchFamily="34" charset="0"/>
                          <a:ea typeface="IBM Plex Sans" pitchFamily="34" charset="-122"/>
                          <a:cs typeface="IBM Plex Sans" pitchFamily="34" charset="-120"/>
                        </a:rPr>
                        <a:t>min_samples_split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c>
                  <a:txBody>
                    <a:bodyPr/>
                    <a:lstStyle/>
                    <a:p>
                      <a:pPr indent="0" marL="0">
                        <a:lnSpc>
                          <a:spcPts val="1960"/>
                        </a:lnSpc>
                        <a:buNone/>
                      </a:pPr>
                      <a:r>
                        <a:rPr lang="en-US" sz="1400" dirty="0">
                          <a:solidFill>
                            <a:srgbClr val="23262B"/>
                          </a:solidFill>
                          <a:latin typeface="IBM Plex Sans" pitchFamily="34" charset="0"/>
                          <a:ea typeface="IBM Plex Sans" pitchFamily="34" charset="-122"/>
                          <a:cs typeface="IBM Plex Sans" pitchFamily="34" charset="-120"/>
                        </a:rPr>
                        <a:t>10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c>
                  <a:txBody>
                    <a:bodyPr/>
                    <a:lstStyle/>
                    <a:p>
                      <a:pPr indent="0" marL="0">
                        <a:lnSpc>
                          <a:spcPts val="1960"/>
                        </a:lnSpc>
                        <a:buNone/>
                      </a:pPr>
                      <a:r>
                        <a:rPr lang="en-US" sz="1400" dirty="0">
                          <a:solidFill>
                            <a:srgbClr val="23262B"/>
                          </a:solidFill>
                          <a:latin typeface="IBM Plex Sans" pitchFamily="34" charset="0"/>
                          <a:ea typeface="IBM Plex Sans" pitchFamily="34" charset="-122"/>
                          <a:cs typeface="IBM Plex Sans" pitchFamily="34" charset="-120"/>
                        </a:rPr>
                        <a:t>A group needs at least 10 customers to be split again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r>
              <a:tr h="386011">
                <a:tc>
                  <a:txBody>
                    <a:bodyPr/>
                    <a:lstStyle/>
                    <a:p>
                      <a:pPr indent="0" marL="0">
                        <a:lnSpc>
                          <a:spcPts val="1960"/>
                        </a:lnSpc>
                        <a:buNone/>
                      </a:pPr>
                      <a:r>
                        <a:rPr lang="en-US" sz="1400" dirty="0">
                          <a:solidFill>
                            <a:srgbClr val="23262B"/>
                          </a:solidFill>
                          <a:latin typeface="IBM Plex Sans" pitchFamily="34" charset="0"/>
                          <a:ea typeface="IBM Plex Sans" pitchFamily="34" charset="-122"/>
                          <a:cs typeface="IBM Plex Sans" pitchFamily="34" charset="-120"/>
                        </a:rPr>
                        <a:t>min_samples_leaf</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c>
                  <a:txBody>
                    <a:bodyPr/>
                    <a:lstStyle/>
                    <a:p>
                      <a:pPr indent="0" marL="0">
                        <a:lnSpc>
                          <a:spcPts val="1960"/>
                        </a:lnSpc>
                        <a:buNone/>
                      </a:pPr>
                      <a:r>
                        <a:rPr lang="en-US" sz="1400" dirty="0">
                          <a:solidFill>
                            <a:srgbClr val="23262B"/>
                          </a:solidFill>
                          <a:latin typeface="IBM Plex Sans" pitchFamily="34" charset="0"/>
                          <a:ea typeface="IBM Plex Sans" pitchFamily="34" charset="-122"/>
                          <a:cs typeface="IBM Plex Sans" pitchFamily="34" charset="-120"/>
                        </a:rPr>
                        <a:t>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c>
                  <a:txBody>
                    <a:bodyPr/>
                    <a:lstStyle/>
                    <a:p>
                      <a:pPr indent="0" marL="0">
                        <a:lnSpc>
                          <a:spcPts val="1960"/>
                        </a:lnSpc>
                        <a:buNone/>
                      </a:pPr>
                      <a:r>
                        <a:rPr lang="en-US" sz="1400" dirty="0">
                          <a:solidFill>
                            <a:srgbClr val="23262B"/>
                          </a:solidFill>
                          <a:latin typeface="IBM Plex Sans" pitchFamily="34" charset="0"/>
                          <a:ea typeface="IBM Plex Sans" pitchFamily="34" charset="-122"/>
                          <a:cs typeface="IBM Plex Sans" pitchFamily="34" charset="-120"/>
                        </a:rPr>
                        <a:t>Every final group keeps at least 5 customers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r>
              <a:tr h="386011">
                <a:tc>
                  <a:txBody>
                    <a:bodyPr/>
                    <a:lstStyle/>
                    <a:p>
                      <a:pPr indent="0" marL="0">
                        <a:lnSpc>
                          <a:spcPts val="1960"/>
                        </a:lnSpc>
                        <a:buNone/>
                      </a:pPr>
                      <a:r>
                        <a:rPr lang="en-US" sz="1400" dirty="0">
                          <a:solidFill>
                            <a:srgbClr val="23262B"/>
                          </a:solidFill>
                          <a:latin typeface="IBM Plex Sans" pitchFamily="34" charset="0"/>
                          <a:ea typeface="IBM Plex Sans" pitchFamily="34" charset="-122"/>
                          <a:cs typeface="IBM Plex Sans" pitchFamily="34" charset="-120"/>
                        </a:rPr>
                        <a:t>random_state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c>
                  <a:txBody>
                    <a:bodyPr/>
                    <a:lstStyle/>
                    <a:p>
                      <a:pPr indent="0" marL="0">
                        <a:lnSpc>
                          <a:spcPts val="1960"/>
                        </a:lnSpc>
                        <a:buNone/>
                      </a:pPr>
                      <a:r>
                        <a:rPr lang="en-US" sz="1400" dirty="0">
                          <a:solidFill>
                            <a:srgbClr val="23262B"/>
                          </a:solidFill>
                          <a:latin typeface="IBM Plex Sans" pitchFamily="34" charset="0"/>
                          <a:ea typeface="IBM Plex Sans" pitchFamily="34" charset="-122"/>
                          <a:cs typeface="IBM Plex Sans" pitchFamily="34" charset="-120"/>
                        </a:rPr>
                        <a:t>42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c>
                  <a:txBody>
                    <a:bodyPr/>
                    <a:lstStyle/>
                    <a:p>
                      <a:pPr indent="0" marL="0">
                        <a:lnSpc>
                          <a:spcPts val="1960"/>
                        </a:lnSpc>
                        <a:buNone/>
                      </a:pPr>
                      <a:r>
                        <a:rPr lang="en-US" sz="1400" dirty="0">
                          <a:solidFill>
                            <a:srgbClr val="23262B"/>
                          </a:solidFill>
                          <a:latin typeface="IBM Plex Sans" pitchFamily="34" charset="0"/>
                          <a:ea typeface="IBM Plex Sans" pitchFamily="34" charset="-122"/>
                          <a:cs typeface="IBM Plex Sans" pitchFamily="34" charset="-120"/>
                        </a:rPr>
                        <a:t>Same split and same tree on every run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r>
            </a:tbl>
          </a:graphicData>
        </a:graphic>
      </p:graphicFrame>
      <p:sp>
        <p:nvSpPr>
          <p:cNvPr id="8" name="Text 5"/>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IBM Plex Sans" pitchFamily="34" charset="0"/>
                <a:ea typeface="IBM Plex Sans" pitchFamily="34" charset="-122"/>
                <a:cs typeface="IBM Plex Sans" pitchFamily="34" charset="-120"/>
              </a:rPr>
              <a:t>scikit-learn DecisionTreeRegressor · train_test_split(test_size=0.2, random_state=42)</a:t>
            </a:r>
            <a:endParaRPr lang="en-US" sz="1200" dirty="0"/>
          </a:p>
        </p:txBody>
      </p:sp>
      <p:sp>
        <p:nvSpPr>
          <p:cNvPr id="9" name="Text 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078"/>
                </a:solidFill>
                <a:latin typeface="IBM Plex Sans" pitchFamily="34" charset="0"/>
                <a:ea typeface="IBM Plex Sans" pitchFamily="34" charset="-122"/>
                <a:cs typeface="IBM Plex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4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F"/>
                </a:solidFill>
                <a:latin typeface="IBM Plex Sans" pitchFamily="34" charset="0"/>
                <a:ea typeface="IBM Plex Sans" pitchFamily="34" charset="-122"/>
                <a:cs typeface="IBM Plex Sans" pitchFamily="34" charset="-120"/>
              </a:rPr>
              <a:t>MODEL EVALUATION</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23262B"/>
                </a:solidFill>
                <a:latin typeface="Bricolage Grotesque" pitchFamily="34" charset="0"/>
                <a:ea typeface="Bricolage Grotesque" pitchFamily="34" charset="-122"/>
                <a:cs typeface="Bricolage Grotesque" pitchFamily="34" charset="-120"/>
              </a:rPr>
              <a:t>Results on 268 unseen customers</a:t>
            </a:r>
            <a:endParaRPr lang="en-US" sz="3600" dirty="0"/>
          </a:p>
        </p:txBody>
      </p:sp>
      <p:sp>
        <p:nvSpPr>
          <p:cNvPr id="4" name="Shape 2"/>
          <p:cNvSpPr/>
          <p:nvPr/>
        </p:nvSpPr>
        <p:spPr>
          <a:xfrm>
            <a:off x="819150" y="1890961"/>
            <a:ext cx="5194300" cy="1435001"/>
          </a:xfrm>
          <a:prstGeom prst="roundRect">
            <a:avLst>
              <a:gd name="adj" fmla="val 5753"/>
            </a:avLst>
          </a:prstGeom>
          <a:solidFill>
            <a:srgbClr val="FCFBF9"/>
          </a:solidFill>
          <a:ln w="12700">
            <a:solidFill>
              <a:srgbClr val="DDDAD4"/>
            </a:solidFill>
            <a:prstDash val="solid"/>
          </a:ln>
        </p:spPr>
      </p:sp>
      <p:sp>
        <p:nvSpPr>
          <p:cNvPr id="5" name="Text 3"/>
          <p:cNvSpPr/>
          <p:nvPr/>
        </p:nvSpPr>
        <p:spPr>
          <a:xfrm>
            <a:off x="1054100" y="2075111"/>
            <a:ext cx="486613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7078"/>
                </a:solidFill>
                <a:latin typeface="IBM Plex Sans" pitchFamily="34" charset="0"/>
                <a:ea typeface="IBM Plex Sans" pitchFamily="34" charset="-122"/>
                <a:cs typeface="IBM Plex Sans" pitchFamily="34" charset="-120"/>
              </a:rPr>
              <a:t>MAE</a:t>
            </a:r>
            <a:endParaRPr lang="en-US" sz="1200" dirty="0"/>
          </a:p>
        </p:txBody>
      </p:sp>
      <p:sp>
        <p:nvSpPr>
          <p:cNvPr id="6" name="Text 4"/>
          <p:cNvSpPr/>
          <p:nvPr/>
        </p:nvSpPr>
        <p:spPr>
          <a:xfrm>
            <a:off x="1054100" y="2339231"/>
            <a:ext cx="486613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23262B"/>
                </a:solidFill>
                <a:latin typeface="Bricolage Grotesque" pitchFamily="34" charset="0"/>
                <a:ea typeface="Bricolage Grotesque" pitchFamily="34" charset="-122"/>
                <a:cs typeface="Bricolage Grotesque" pitchFamily="34" charset="-120"/>
              </a:rPr>
              <a:t>$2,609</a:t>
            </a:r>
            <a:endParaRPr lang="en-US" sz="3600" dirty="0"/>
          </a:p>
        </p:txBody>
      </p:sp>
      <p:sp>
        <p:nvSpPr>
          <p:cNvPr id="7" name="Text 5"/>
          <p:cNvSpPr/>
          <p:nvPr/>
        </p:nvSpPr>
        <p:spPr>
          <a:xfrm>
            <a:off x="1054100" y="2892921"/>
            <a:ext cx="486613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E535B"/>
                </a:solidFill>
                <a:latin typeface="IBM Plex Sans" pitchFamily="34" charset="0"/>
                <a:ea typeface="IBM Plex Sans" pitchFamily="34" charset="-122"/>
                <a:cs typeface="IBM Plex Sans" pitchFamily="34" charset="-120"/>
              </a:rPr>
              <a:t>Average miss per customer, in dollars</a:t>
            </a:r>
            <a:endParaRPr lang="en-US" sz="1400" dirty="0"/>
          </a:p>
        </p:txBody>
      </p:sp>
      <p:sp>
        <p:nvSpPr>
          <p:cNvPr id="8" name="Shape 6"/>
          <p:cNvSpPr/>
          <p:nvPr/>
        </p:nvSpPr>
        <p:spPr>
          <a:xfrm>
            <a:off x="6178550" y="1890961"/>
            <a:ext cx="5194300" cy="1435001"/>
          </a:xfrm>
          <a:prstGeom prst="roundRect">
            <a:avLst>
              <a:gd name="adj" fmla="val 5753"/>
            </a:avLst>
          </a:prstGeom>
          <a:solidFill>
            <a:srgbClr val="FCFBF9"/>
          </a:solidFill>
          <a:ln w="12700">
            <a:solidFill>
              <a:srgbClr val="DDDAD4"/>
            </a:solidFill>
            <a:prstDash val="solid"/>
          </a:ln>
        </p:spPr>
      </p:sp>
      <p:sp>
        <p:nvSpPr>
          <p:cNvPr id="9" name="Text 7"/>
          <p:cNvSpPr/>
          <p:nvPr/>
        </p:nvSpPr>
        <p:spPr>
          <a:xfrm>
            <a:off x="6413500" y="2075111"/>
            <a:ext cx="486613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7078"/>
                </a:solidFill>
                <a:latin typeface="IBM Plex Sans" pitchFamily="34" charset="0"/>
                <a:ea typeface="IBM Plex Sans" pitchFamily="34" charset="-122"/>
                <a:cs typeface="IBM Plex Sans" pitchFamily="34" charset="-120"/>
              </a:rPr>
              <a:t>RMSE</a:t>
            </a:r>
            <a:endParaRPr lang="en-US" sz="1200" dirty="0"/>
          </a:p>
        </p:txBody>
      </p:sp>
      <p:sp>
        <p:nvSpPr>
          <p:cNvPr id="10" name="Text 8"/>
          <p:cNvSpPr/>
          <p:nvPr/>
        </p:nvSpPr>
        <p:spPr>
          <a:xfrm>
            <a:off x="6413500" y="2339231"/>
            <a:ext cx="486613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23262B"/>
                </a:solidFill>
                <a:latin typeface="Bricolage Grotesque" pitchFamily="34" charset="0"/>
                <a:ea typeface="Bricolage Grotesque" pitchFamily="34" charset="-122"/>
                <a:cs typeface="Bricolage Grotesque" pitchFamily="34" charset="-120"/>
              </a:rPr>
              <a:t>$4,390</a:t>
            </a:r>
            <a:endParaRPr lang="en-US" sz="3600" dirty="0"/>
          </a:p>
        </p:txBody>
      </p:sp>
      <p:sp>
        <p:nvSpPr>
          <p:cNvPr id="11" name="Text 9"/>
          <p:cNvSpPr/>
          <p:nvPr/>
        </p:nvSpPr>
        <p:spPr>
          <a:xfrm>
            <a:off x="6413500" y="2892921"/>
            <a:ext cx="486613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E535B"/>
                </a:solidFill>
                <a:latin typeface="IBM Plex Sans" pitchFamily="34" charset="0"/>
                <a:ea typeface="IBM Plex Sans" pitchFamily="34" charset="-122"/>
                <a:cs typeface="IBM Plex Sans" pitchFamily="34" charset="-120"/>
              </a:rPr>
              <a:t>Also in dollars, but big misses count more</a:t>
            </a:r>
            <a:endParaRPr lang="en-US" sz="1400" dirty="0"/>
          </a:p>
        </p:txBody>
      </p:sp>
      <p:sp>
        <p:nvSpPr>
          <p:cNvPr id="12" name="Shape 10"/>
          <p:cNvSpPr/>
          <p:nvPr/>
        </p:nvSpPr>
        <p:spPr>
          <a:xfrm>
            <a:off x="819150" y="3491061"/>
            <a:ext cx="5194300" cy="1435001"/>
          </a:xfrm>
          <a:prstGeom prst="roundRect">
            <a:avLst>
              <a:gd name="adj" fmla="val 5753"/>
            </a:avLst>
          </a:prstGeom>
          <a:solidFill>
            <a:srgbClr val="FCFBF9"/>
          </a:solidFill>
          <a:ln w="12700">
            <a:solidFill>
              <a:srgbClr val="DDDAD4"/>
            </a:solidFill>
            <a:prstDash val="solid"/>
          </a:ln>
        </p:spPr>
      </p:sp>
      <p:sp>
        <p:nvSpPr>
          <p:cNvPr id="13" name="Text 11"/>
          <p:cNvSpPr/>
          <p:nvPr/>
        </p:nvSpPr>
        <p:spPr>
          <a:xfrm>
            <a:off x="1054100" y="3675211"/>
            <a:ext cx="486613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7078"/>
                </a:solidFill>
                <a:latin typeface="IBM Plex Sans" pitchFamily="34" charset="0"/>
                <a:ea typeface="IBM Plex Sans" pitchFamily="34" charset="-122"/>
                <a:cs typeface="IBM Plex Sans" pitchFamily="34" charset="-120"/>
              </a:rPr>
              <a:t>R²</a:t>
            </a:r>
            <a:endParaRPr lang="en-US" sz="1200" dirty="0"/>
          </a:p>
        </p:txBody>
      </p:sp>
      <p:sp>
        <p:nvSpPr>
          <p:cNvPr id="14" name="Text 12"/>
          <p:cNvSpPr/>
          <p:nvPr/>
        </p:nvSpPr>
        <p:spPr>
          <a:xfrm>
            <a:off x="1054100" y="3939332"/>
            <a:ext cx="486613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23262B"/>
                </a:solidFill>
                <a:latin typeface="Bricolage Grotesque" pitchFamily="34" charset="0"/>
                <a:ea typeface="Bricolage Grotesque" pitchFamily="34" charset="-122"/>
                <a:cs typeface="Bricolage Grotesque" pitchFamily="34" charset="-120"/>
              </a:rPr>
              <a:t>0.895</a:t>
            </a:r>
            <a:endParaRPr lang="en-US" sz="3600" dirty="0"/>
          </a:p>
        </p:txBody>
      </p:sp>
      <p:sp>
        <p:nvSpPr>
          <p:cNvPr id="15" name="Text 13"/>
          <p:cNvSpPr/>
          <p:nvPr/>
        </p:nvSpPr>
        <p:spPr>
          <a:xfrm>
            <a:off x="1054100" y="4493022"/>
            <a:ext cx="486613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E535B"/>
                </a:solidFill>
                <a:latin typeface="IBM Plex Sans" pitchFamily="34" charset="0"/>
                <a:ea typeface="IBM Plex Sans" pitchFamily="34" charset="-122"/>
                <a:cs typeface="IBM Plex Sans" pitchFamily="34" charset="-120"/>
              </a:rPr>
              <a:t>Explains about 90% of the variation in bills</a:t>
            </a:r>
            <a:endParaRPr lang="en-US" sz="1400" dirty="0"/>
          </a:p>
        </p:txBody>
      </p:sp>
      <p:sp>
        <p:nvSpPr>
          <p:cNvPr id="16" name="Shape 14"/>
          <p:cNvSpPr/>
          <p:nvPr/>
        </p:nvSpPr>
        <p:spPr>
          <a:xfrm>
            <a:off x="6178550" y="3491061"/>
            <a:ext cx="5194300" cy="1435001"/>
          </a:xfrm>
          <a:prstGeom prst="roundRect">
            <a:avLst>
              <a:gd name="adj" fmla="val 5753"/>
            </a:avLst>
          </a:prstGeom>
          <a:solidFill>
            <a:srgbClr val="FCFBF9"/>
          </a:solidFill>
          <a:ln w="12700">
            <a:solidFill>
              <a:srgbClr val="DDDAD4"/>
            </a:solidFill>
            <a:prstDash val="solid"/>
          </a:ln>
        </p:spPr>
      </p:sp>
      <p:sp>
        <p:nvSpPr>
          <p:cNvPr id="17" name="Text 15"/>
          <p:cNvSpPr/>
          <p:nvPr/>
        </p:nvSpPr>
        <p:spPr>
          <a:xfrm>
            <a:off x="6413500" y="3675211"/>
            <a:ext cx="486613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7078"/>
                </a:solidFill>
                <a:latin typeface="IBM Plex Sans" pitchFamily="34" charset="0"/>
                <a:ea typeface="IBM Plex Sans" pitchFamily="34" charset="-122"/>
                <a:cs typeface="IBM Plex Sans" pitchFamily="34" charset="-120"/>
              </a:rPr>
              <a:t>MSE</a:t>
            </a:r>
            <a:endParaRPr lang="en-US" sz="1200" dirty="0"/>
          </a:p>
        </p:txBody>
      </p:sp>
      <p:sp>
        <p:nvSpPr>
          <p:cNvPr id="18" name="Text 16"/>
          <p:cNvSpPr/>
          <p:nvPr/>
        </p:nvSpPr>
        <p:spPr>
          <a:xfrm>
            <a:off x="6413500" y="3939332"/>
            <a:ext cx="486613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23262B"/>
                </a:solidFill>
                <a:latin typeface="Bricolage Grotesque" pitchFamily="34" charset="0"/>
                <a:ea typeface="Bricolage Grotesque" pitchFamily="34" charset="-122"/>
                <a:cs typeface="Bricolage Grotesque" pitchFamily="34" charset="-120"/>
              </a:rPr>
              <a:t>19.27 M</a:t>
            </a:r>
            <a:endParaRPr lang="en-US" sz="3600" dirty="0"/>
          </a:p>
        </p:txBody>
      </p:sp>
      <p:sp>
        <p:nvSpPr>
          <p:cNvPr id="19" name="Text 17"/>
          <p:cNvSpPr/>
          <p:nvPr/>
        </p:nvSpPr>
        <p:spPr>
          <a:xfrm>
            <a:off x="6413500" y="4493022"/>
            <a:ext cx="486613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E535B"/>
                </a:solidFill>
                <a:latin typeface="IBM Plex Sans" pitchFamily="34" charset="0"/>
                <a:ea typeface="IBM Plex Sans" pitchFamily="34" charset="-122"/>
                <a:cs typeface="IBM Plex Sans" pitchFamily="34" charset="-120"/>
              </a:rPr>
              <a:t>In dollars squared, so no $ sign; used to get RMSE</a:t>
            </a:r>
            <a:endParaRPr lang="en-US" sz="1400" dirty="0"/>
          </a:p>
        </p:txBody>
      </p:sp>
      <p:sp>
        <p:nvSpPr>
          <p:cNvPr id="20" name="Text 18"/>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IBM Plex Sans" pitchFamily="34" charset="0"/>
                <a:ea typeface="IBM Plex Sans" pitchFamily="34" charset="-122"/>
                <a:cs typeface="IBM Plex Sans" pitchFamily="34" charset="-120"/>
              </a:rPr>
              <a:t>Evaluation · Group 5 · Decision Tree Regression</a:t>
            </a:r>
            <a:endParaRPr lang="en-US" sz="1200" dirty="0"/>
          </a:p>
        </p:txBody>
      </p:sp>
      <p:sp>
        <p:nvSpPr>
          <p:cNvPr id="21"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078"/>
                </a:solidFill>
                <a:latin typeface="IBM Plex Sans" pitchFamily="34" charset="0"/>
                <a:ea typeface="IBM Plex Sans" pitchFamily="34" charset="-122"/>
                <a:cs typeface="IBM Plex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4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F"/>
                </a:solidFill>
                <a:latin typeface="IBM Plex Sans" pitchFamily="34" charset="0"/>
                <a:ea typeface="IBM Plex Sans" pitchFamily="34" charset="-122"/>
                <a:cs typeface="IBM Plex Sans" pitchFamily="34" charset="-120"/>
              </a:rPr>
              <a:t>KEY INSIGHTS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23262B"/>
                </a:solidFill>
                <a:latin typeface="Bricolage Grotesque" pitchFamily="34" charset="0"/>
                <a:ea typeface="Bricolage Grotesque" pitchFamily="34" charset="-122"/>
                <a:cs typeface="Bricolage Grotesque" pitchFamily="34" charset="-120"/>
              </a:rPr>
              <a:t>What the model learned</a:t>
            </a:r>
            <a:endParaRPr lang="en-US" sz="3600" dirty="0"/>
          </a:p>
        </p:txBody>
      </p:sp>
      <p:sp>
        <p:nvSpPr>
          <p:cNvPr id="4" name="Text 2"/>
          <p:cNvSpPr/>
          <p:nvPr/>
        </p:nvSpPr>
        <p:spPr>
          <a:xfrm>
            <a:off x="812800" y="1907480"/>
            <a:ext cx="1701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3262B"/>
                </a:solidFill>
                <a:latin typeface="IBM Plex Sans" pitchFamily="34" charset="0"/>
                <a:ea typeface="IBM Plex Sans" pitchFamily="34" charset="-122"/>
                <a:cs typeface="IBM Plex Sans" pitchFamily="34" charset="-120"/>
              </a:rPr>
              <a:t>smoker</a:t>
            </a:r>
            <a:endParaRPr lang="en-US" sz="1600" dirty="0"/>
          </a:p>
        </p:txBody>
      </p:sp>
      <p:sp>
        <p:nvSpPr>
          <p:cNvPr id="5" name="Shape 3"/>
          <p:cNvSpPr/>
          <p:nvPr/>
        </p:nvSpPr>
        <p:spPr>
          <a:xfrm>
            <a:off x="2616200" y="1884611"/>
            <a:ext cx="6350000" cy="330200"/>
          </a:xfrm>
          <a:prstGeom prst="roundRect">
            <a:avLst>
              <a:gd name="adj" fmla="val 11538"/>
            </a:avLst>
          </a:prstGeom>
          <a:solidFill>
            <a:srgbClr val="C07A7A"/>
          </a:solidFill>
          <a:ln/>
        </p:spPr>
      </p:sp>
      <p:sp>
        <p:nvSpPr>
          <p:cNvPr id="6" name="Text 4"/>
          <p:cNvSpPr/>
          <p:nvPr/>
        </p:nvSpPr>
        <p:spPr>
          <a:xfrm>
            <a:off x="9118600" y="1907480"/>
            <a:ext cx="53012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3262B"/>
                </a:solidFill>
                <a:latin typeface="IBM Plex Sans" pitchFamily="34" charset="0"/>
                <a:ea typeface="IBM Plex Sans" pitchFamily="34" charset="-122"/>
                <a:cs typeface="IBM Plex Sans" pitchFamily="34" charset="-120"/>
              </a:rPr>
              <a:t>69%</a:t>
            </a:r>
            <a:endParaRPr lang="en-US" sz="1600" dirty="0"/>
          </a:p>
        </p:txBody>
      </p:sp>
      <p:sp>
        <p:nvSpPr>
          <p:cNvPr id="7" name="Text 5"/>
          <p:cNvSpPr/>
          <p:nvPr/>
        </p:nvSpPr>
        <p:spPr>
          <a:xfrm>
            <a:off x="812800" y="2351980"/>
            <a:ext cx="1701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3262B"/>
                </a:solidFill>
                <a:latin typeface="IBM Plex Sans" pitchFamily="34" charset="0"/>
                <a:ea typeface="IBM Plex Sans" pitchFamily="34" charset="-122"/>
                <a:cs typeface="IBM Plex Sans" pitchFamily="34" charset="-120"/>
              </a:rPr>
              <a:t>BMI</a:t>
            </a:r>
            <a:endParaRPr lang="en-US" sz="1600" dirty="0"/>
          </a:p>
        </p:txBody>
      </p:sp>
      <p:sp>
        <p:nvSpPr>
          <p:cNvPr id="8" name="Shape 6"/>
          <p:cNvSpPr/>
          <p:nvPr/>
        </p:nvSpPr>
        <p:spPr>
          <a:xfrm>
            <a:off x="2616200" y="2329111"/>
            <a:ext cx="1593850" cy="330200"/>
          </a:xfrm>
          <a:prstGeom prst="roundRect">
            <a:avLst>
              <a:gd name="adj" fmla="val 11538"/>
            </a:avLst>
          </a:prstGeom>
          <a:solidFill>
            <a:srgbClr val="6B9E78"/>
          </a:solidFill>
          <a:ln/>
        </p:spPr>
      </p:sp>
      <p:sp>
        <p:nvSpPr>
          <p:cNvPr id="9" name="Text 7"/>
          <p:cNvSpPr/>
          <p:nvPr/>
        </p:nvSpPr>
        <p:spPr>
          <a:xfrm>
            <a:off x="4362450" y="2351980"/>
            <a:ext cx="53012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3262B"/>
                </a:solidFill>
                <a:latin typeface="IBM Plex Sans" pitchFamily="34" charset="0"/>
                <a:ea typeface="IBM Plex Sans" pitchFamily="34" charset="-122"/>
                <a:cs typeface="IBM Plex Sans" pitchFamily="34" charset="-120"/>
              </a:rPr>
              <a:t>17%</a:t>
            </a:r>
            <a:endParaRPr lang="en-US" sz="1600" dirty="0"/>
          </a:p>
        </p:txBody>
      </p:sp>
      <p:sp>
        <p:nvSpPr>
          <p:cNvPr id="10" name="Text 8"/>
          <p:cNvSpPr/>
          <p:nvPr/>
        </p:nvSpPr>
        <p:spPr>
          <a:xfrm>
            <a:off x="812800" y="2796480"/>
            <a:ext cx="1701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3262B"/>
                </a:solidFill>
                <a:latin typeface="IBM Plex Sans" pitchFamily="34" charset="0"/>
                <a:ea typeface="IBM Plex Sans" pitchFamily="34" charset="-122"/>
                <a:cs typeface="IBM Plex Sans" pitchFamily="34" charset="-120"/>
              </a:rPr>
              <a:t>age</a:t>
            </a:r>
            <a:endParaRPr lang="en-US" sz="1600" dirty="0"/>
          </a:p>
        </p:txBody>
      </p:sp>
      <p:sp>
        <p:nvSpPr>
          <p:cNvPr id="11" name="Shape 9"/>
          <p:cNvSpPr/>
          <p:nvPr/>
        </p:nvSpPr>
        <p:spPr>
          <a:xfrm>
            <a:off x="2616200" y="2773611"/>
            <a:ext cx="1092200" cy="330200"/>
          </a:xfrm>
          <a:prstGeom prst="roundRect">
            <a:avLst>
              <a:gd name="adj" fmla="val 11538"/>
            </a:avLst>
          </a:prstGeom>
          <a:solidFill>
            <a:srgbClr val="C9A24D"/>
          </a:solidFill>
          <a:ln/>
        </p:spPr>
      </p:sp>
      <p:sp>
        <p:nvSpPr>
          <p:cNvPr id="12" name="Text 10"/>
          <p:cNvSpPr/>
          <p:nvPr/>
        </p:nvSpPr>
        <p:spPr>
          <a:xfrm>
            <a:off x="3860800" y="2796480"/>
            <a:ext cx="53012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3262B"/>
                </a:solidFill>
                <a:latin typeface="IBM Plex Sans" pitchFamily="34" charset="0"/>
                <a:ea typeface="IBM Plex Sans" pitchFamily="34" charset="-122"/>
                <a:cs typeface="IBM Plex Sans" pitchFamily="34" charset="-120"/>
              </a:rPr>
              <a:t>12%</a:t>
            </a:r>
            <a:endParaRPr lang="en-US" sz="1600" dirty="0"/>
          </a:p>
        </p:txBody>
      </p:sp>
      <p:sp>
        <p:nvSpPr>
          <p:cNvPr id="13" name="Text 11"/>
          <p:cNvSpPr/>
          <p:nvPr/>
        </p:nvSpPr>
        <p:spPr>
          <a:xfrm>
            <a:off x="812800" y="3240980"/>
            <a:ext cx="17018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3262B"/>
                </a:solidFill>
                <a:latin typeface="IBM Plex Sans" pitchFamily="34" charset="0"/>
                <a:ea typeface="IBM Plex Sans" pitchFamily="34" charset="-122"/>
                <a:cs typeface="IBM Plex Sans" pitchFamily="34" charset="-120"/>
              </a:rPr>
              <a:t>children</a:t>
            </a:r>
            <a:endParaRPr lang="en-US" sz="1600" dirty="0"/>
          </a:p>
        </p:txBody>
      </p:sp>
      <p:sp>
        <p:nvSpPr>
          <p:cNvPr id="14" name="Shape 12"/>
          <p:cNvSpPr/>
          <p:nvPr/>
        </p:nvSpPr>
        <p:spPr>
          <a:xfrm>
            <a:off x="2616200" y="3218111"/>
            <a:ext cx="120650" cy="330200"/>
          </a:xfrm>
          <a:prstGeom prst="roundRect">
            <a:avLst>
              <a:gd name="adj" fmla="val 21053"/>
            </a:avLst>
          </a:prstGeom>
          <a:solidFill>
            <a:srgbClr val="B9B5AE"/>
          </a:solidFill>
          <a:ln/>
        </p:spPr>
      </p:sp>
      <p:sp>
        <p:nvSpPr>
          <p:cNvPr id="15" name="Text 13"/>
          <p:cNvSpPr/>
          <p:nvPr/>
        </p:nvSpPr>
        <p:spPr>
          <a:xfrm>
            <a:off x="2889250" y="3240980"/>
            <a:ext cx="37236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3262B"/>
                </a:solidFill>
                <a:latin typeface="IBM Plex Sans" pitchFamily="34" charset="0"/>
                <a:ea typeface="IBM Plex Sans" pitchFamily="34" charset="-122"/>
                <a:cs typeface="IBM Plex Sans" pitchFamily="34" charset="-120"/>
              </a:rPr>
              <a:t>1%</a:t>
            </a:r>
            <a:endParaRPr lang="en-US" sz="1600" dirty="0"/>
          </a:p>
        </p:txBody>
      </p:sp>
      <p:sp>
        <p:nvSpPr>
          <p:cNvPr id="16" name="Text 14"/>
          <p:cNvSpPr/>
          <p:nvPr/>
        </p:nvSpPr>
        <p:spPr>
          <a:xfrm>
            <a:off x="812800" y="3685480"/>
            <a:ext cx="17018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3262B"/>
                </a:solidFill>
                <a:latin typeface="IBM Plex Sans" pitchFamily="34" charset="0"/>
                <a:ea typeface="IBM Plex Sans" pitchFamily="34" charset="-122"/>
                <a:cs typeface="IBM Plex Sans" pitchFamily="34" charset="-120"/>
              </a:rPr>
              <a:t>sex, region</a:t>
            </a:r>
            <a:endParaRPr lang="en-US" sz="1600" dirty="0"/>
          </a:p>
        </p:txBody>
      </p:sp>
      <p:sp>
        <p:nvSpPr>
          <p:cNvPr id="17" name="Shape 15"/>
          <p:cNvSpPr/>
          <p:nvPr/>
        </p:nvSpPr>
        <p:spPr>
          <a:xfrm>
            <a:off x="2616200" y="3662611"/>
            <a:ext cx="38100" cy="330200"/>
          </a:xfrm>
          <a:prstGeom prst="roundRect">
            <a:avLst>
              <a:gd name="adj" fmla="val 50000"/>
            </a:avLst>
          </a:prstGeom>
          <a:solidFill>
            <a:srgbClr val="B9B5AE"/>
          </a:solidFill>
          <a:ln/>
        </p:spPr>
      </p:sp>
      <p:sp>
        <p:nvSpPr>
          <p:cNvPr id="18" name="Text 16"/>
          <p:cNvSpPr/>
          <p:nvPr/>
        </p:nvSpPr>
        <p:spPr>
          <a:xfrm>
            <a:off x="2806700" y="3685480"/>
            <a:ext cx="107168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3262B"/>
                </a:solidFill>
                <a:latin typeface="IBM Plex Sans" pitchFamily="34" charset="0"/>
                <a:ea typeface="IBM Plex Sans" pitchFamily="34" charset="-122"/>
                <a:cs typeface="IBM Plex Sans" pitchFamily="34" charset="-120"/>
              </a:rPr>
              <a:t>under 1%</a:t>
            </a:r>
            <a:endParaRPr lang="en-US" sz="1600" dirty="0"/>
          </a:p>
        </p:txBody>
      </p:sp>
      <p:sp>
        <p:nvSpPr>
          <p:cNvPr id="19" name="Text 17"/>
          <p:cNvSpPr/>
          <p:nvPr/>
        </p:nvSpPr>
        <p:spPr>
          <a:xfrm>
            <a:off x="812800" y="4246811"/>
            <a:ext cx="981075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23262B"/>
                </a:solidFill>
                <a:latin typeface="IBM Plex Sans" pitchFamily="34" charset="0"/>
                <a:ea typeface="IBM Plex Sans" pitchFamily="34" charset="-122"/>
                <a:cs typeface="IBM Plex Sans" pitchFamily="34" charset="-120"/>
              </a:rPr>
              <a:t>This matches the EDA: smoking first, then </a:t>
            </a:r>
            <a:r>
              <a:rPr lang="en-US" sz="1500" b="1" dirty="0">
                <a:solidFill>
                  <a:srgbClr val="23262B"/>
                </a:solidFill>
                <a:latin typeface="IBM Plex Sans" pitchFamily="34" charset="0"/>
                <a:ea typeface="IBM Plex Sans" pitchFamily="34" charset="-122"/>
                <a:cs typeface="IBM Plex Sans" pitchFamily="34" charset="-120"/>
              </a:rPr>
              <a:t>BMI for smokers</a:t>
            </a:r>
            <a:r>
              <a:rPr lang="en-US" sz="1500" dirty="0">
                <a:solidFill>
                  <a:srgbClr val="23262B"/>
                </a:solidFill>
                <a:latin typeface="IBM Plex Sans" pitchFamily="34" charset="0"/>
                <a:ea typeface="IBM Plex Sans" pitchFamily="34" charset="-122"/>
                <a:cs typeface="IBM Plex Sans" pitchFamily="34" charset="-120"/>
              </a:rPr>
              <a:t> and </a:t>
            </a:r>
            <a:r>
              <a:rPr lang="en-US" sz="1500" b="1" dirty="0">
                <a:solidFill>
                  <a:srgbClr val="23262B"/>
                </a:solidFill>
                <a:latin typeface="IBM Plex Sans" pitchFamily="34" charset="0"/>
                <a:ea typeface="IBM Plex Sans" pitchFamily="34" charset="-122"/>
                <a:cs typeface="IBM Plex Sans" pitchFamily="34" charset="-120"/>
              </a:rPr>
              <a:t>age for non-smokers</a:t>
            </a:r>
            <a:r>
              <a:rPr lang="en-US" sz="1500" dirty="0">
                <a:solidFill>
                  <a:srgbClr val="23262B"/>
                </a:solidFill>
                <a:latin typeface="IBM Plex Sans" pitchFamily="34" charset="0"/>
                <a:ea typeface="IBM Plex Sans" pitchFamily="34" charset="-122"/>
                <a:cs typeface="IBM Plex Sans" pitchFamily="34" charset="-120"/>
              </a:rPr>
              <a:t>. Sex and region barely matter.</a:t>
            </a:r>
            <a:endParaRPr lang="en-US" sz="1500" dirty="0"/>
          </a:p>
        </p:txBody>
      </p:sp>
      <p:sp>
        <p:nvSpPr>
          <p:cNvPr id="20" name="Text 18"/>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IBM Plex Sans" pitchFamily="34" charset="0"/>
                <a:ea typeface="IBM Plex Sans" pitchFamily="34" charset="-122"/>
                <a:cs typeface="IBM Plex Sans" pitchFamily="34" charset="-120"/>
              </a:rPr>
              <a:t>Share of the tree’s total error reduction from each feature (model.feature_importances_)</a:t>
            </a:r>
            <a:endParaRPr lang="en-US" sz="1200" dirty="0"/>
          </a:p>
        </p:txBody>
      </p:sp>
      <p:sp>
        <p:nvSpPr>
          <p:cNvPr id="21"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078"/>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4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F"/>
                </a:solidFill>
                <a:latin typeface="IBM Plex Sans" pitchFamily="34" charset="0"/>
                <a:ea typeface="IBM Plex Sans" pitchFamily="34" charset="-122"/>
                <a:cs typeface="IBM Plex Sans" pitchFamily="34" charset="-120"/>
              </a:rPr>
              <a:t>CONCLUSION</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23262B"/>
                </a:solidFill>
                <a:latin typeface="Bricolage Grotesque" pitchFamily="34" charset="0"/>
                <a:ea typeface="Bricolage Grotesque" pitchFamily="34" charset="-122"/>
                <a:cs typeface="Bricolage Grotesque" pitchFamily="34" charset="-120"/>
              </a:rPr>
              <a:t>What we found</a:t>
            </a:r>
            <a:endParaRPr lang="en-US" sz="3600" dirty="0"/>
          </a:p>
        </p:txBody>
      </p:sp>
      <p:sp>
        <p:nvSpPr>
          <p:cNvPr id="4" name="Shape 2"/>
          <p:cNvSpPr/>
          <p:nvPr/>
        </p:nvSpPr>
        <p:spPr>
          <a:xfrm>
            <a:off x="819150" y="1916361"/>
            <a:ext cx="3390900" cy="1902321"/>
          </a:xfrm>
          <a:prstGeom prst="roundRect">
            <a:avLst>
              <a:gd name="adj" fmla="val 5007"/>
            </a:avLst>
          </a:prstGeom>
          <a:solidFill>
            <a:srgbClr val="FCFBF9"/>
          </a:solidFill>
          <a:ln w="12700">
            <a:solidFill>
              <a:srgbClr val="DDDAD4"/>
            </a:solidFill>
            <a:prstDash val="solid"/>
          </a:ln>
        </p:spPr>
      </p:sp>
      <p:sp>
        <p:nvSpPr>
          <p:cNvPr id="5" name="Text 3"/>
          <p:cNvSpPr/>
          <p:nvPr/>
        </p:nvSpPr>
        <p:spPr>
          <a:xfrm>
            <a:off x="1054100" y="2151311"/>
            <a:ext cx="300863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23262B"/>
                </a:solidFill>
                <a:latin typeface="Bricolage Grotesque" pitchFamily="34" charset="0"/>
                <a:ea typeface="Bricolage Grotesque" pitchFamily="34" charset="-122"/>
                <a:cs typeface="Bricolage Grotesque" pitchFamily="34" charset="-120"/>
              </a:rPr>
              <a:t>Insight</a:t>
            </a:r>
            <a:endParaRPr lang="en-US" sz="2200" dirty="0"/>
          </a:p>
        </p:txBody>
      </p:sp>
      <p:sp>
        <p:nvSpPr>
          <p:cNvPr id="6" name="Text 4"/>
          <p:cNvSpPr/>
          <p:nvPr/>
        </p:nvSpPr>
        <p:spPr>
          <a:xfrm>
            <a:off x="1132332" y="2588171"/>
            <a:ext cx="2922778" cy="772071"/>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dirty="0">
                <a:solidFill>
                  <a:srgbClr val="23262B"/>
                </a:solidFill>
                <a:latin typeface="IBM Plex Sans" pitchFamily="34" charset="0"/>
                <a:ea typeface="IBM Plex Sans" pitchFamily="34" charset="-122"/>
                <a:cs typeface="IBM Plex Sans" pitchFamily="34" charset="-120"/>
              </a:rPr>
              <a:t>Smoking drives cost the most</a:t>
            </a:r>
            <a:endParaRPr lang="en-US" sz="1400" dirty="0"/>
          </a:p>
          <a:p>
            <a:pPr algn="l" marL="175768" indent="-175768">
              <a:lnSpc>
                <a:spcPts val="1960"/>
              </a:lnSpc>
              <a:buSzPct val="100000"/>
              <a:buChar char="•"/>
            </a:pPr>
            <a:r>
              <a:rPr lang="en-US" sz="1400" dirty="0">
                <a:solidFill>
                  <a:srgbClr val="23262B"/>
                </a:solidFill>
                <a:latin typeface="IBM Plex Sans" pitchFamily="34" charset="0"/>
                <a:ea typeface="IBM Plex Sans" pitchFamily="34" charset="-122"/>
                <a:cs typeface="IBM Plex Sans" pitchFamily="34" charset="-120"/>
              </a:rPr>
              <a:t>BMI matters mainly for smokers</a:t>
            </a:r>
            <a:endParaRPr lang="en-US" sz="1400" dirty="0"/>
          </a:p>
          <a:p>
            <a:pPr algn="l" marL="175768" indent="-175768">
              <a:lnSpc>
                <a:spcPts val="1960"/>
              </a:lnSpc>
              <a:buSzPct val="100000"/>
              <a:buChar char="•"/>
            </a:pPr>
            <a:r>
              <a:rPr lang="en-US" sz="1400" dirty="0">
                <a:solidFill>
                  <a:srgbClr val="23262B"/>
                </a:solidFill>
                <a:latin typeface="IBM Plex Sans" pitchFamily="34" charset="0"/>
                <a:ea typeface="IBM Plex Sans" pitchFamily="34" charset="-122"/>
                <a:cs typeface="IBM Plex Sans" pitchFamily="34" charset="-120"/>
              </a:rPr>
              <a:t>Age raises cost steadily</a:t>
            </a:r>
            <a:endParaRPr lang="en-US" sz="1400" dirty="0"/>
          </a:p>
        </p:txBody>
      </p:sp>
      <p:sp>
        <p:nvSpPr>
          <p:cNvPr id="7" name="Shape 5"/>
          <p:cNvSpPr/>
          <p:nvPr/>
        </p:nvSpPr>
        <p:spPr>
          <a:xfrm>
            <a:off x="4400550" y="1916361"/>
            <a:ext cx="3390900" cy="1902321"/>
          </a:xfrm>
          <a:prstGeom prst="roundRect">
            <a:avLst>
              <a:gd name="adj" fmla="val 5007"/>
            </a:avLst>
          </a:prstGeom>
          <a:solidFill>
            <a:srgbClr val="FCFBF9"/>
          </a:solidFill>
          <a:ln w="12700">
            <a:solidFill>
              <a:srgbClr val="DDDAD4"/>
            </a:solidFill>
            <a:prstDash val="solid"/>
          </a:ln>
        </p:spPr>
      </p:sp>
      <p:sp>
        <p:nvSpPr>
          <p:cNvPr id="8" name="Text 6"/>
          <p:cNvSpPr/>
          <p:nvPr/>
        </p:nvSpPr>
        <p:spPr>
          <a:xfrm>
            <a:off x="4635500" y="2151311"/>
            <a:ext cx="300863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23262B"/>
                </a:solidFill>
                <a:latin typeface="Bricolage Grotesque" pitchFamily="34" charset="0"/>
                <a:ea typeface="Bricolage Grotesque" pitchFamily="34" charset="-122"/>
                <a:cs typeface="Bricolage Grotesque" pitchFamily="34" charset="-120"/>
              </a:rPr>
              <a:t>Performance</a:t>
            </a:r>
            <a:endParaRPr lang="en-US" sz="2200" dirty="0"/>
          </a:p>
        </p:txBody>
      </p:sp>
      <p:sp>
        <p:nvSpPr>
          <p:cNvPr id="9" name="Text 7"/>
          <p:cNvSpPr/>
          <p:nvPr/>
        </p:nvSpPr>
        <p:spPr>
          <a:xfrm>
            <a:off x="4713732" y="2588171"/>
            <a:ext cx="2922778" cy="1020961"/>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dirty="0">
                <a:solidFill>
                  <a:srgbClr val="23262B"/>
                </a:solidFill>
                <a:latin typeface="IBM Plex Sans" pitchFamily="34" charset="0"/>
                <a:ea typeface="IBM Plex Sans" pitchFamily="34" charset="-122"/>
                <a:cs typeface="IBM Plex Sans" pitchFamily="34" charset="-120"/>
              </a:rPr>
              <a:t>Off by about $2,600 on average</a:t>
            </a:r>
            <a:endParaRPr lang="en-US" sz="1400" dirty="0"/>
          </a:p>
          <a:p>
            <a:pPr algn="l" marL="175768" indent="-175768">
              <a:lnSpc>
                <a:spcPts val="1960"/>
              </a:lnSpc>
              <a:buSzPct val="100000"/>
              <a:buChar char="•"/>
            </a:pPr>
            <a:r>
              <a:rPr lang="en-US" sz="1400" dirty="0">
                <a:solidFill>
                  <a:srgbClr val="23262B"/>
                </a:solidFill>
                <a:latin typeface="IBM Plex Sans" pitchFamily="34" charset="0"/>
                <a:ea typeface="IBM Plex Sans" pitchFamily="34" charset="-122"/>
                <a:cs typeface="IBM Plex Sans" pitchFamily="34" charset="-120"/>
              </a:rPr>
              <a:t>Explains about 90% of the variation</a:t>
            </a:r>
            <a:endParaRPr lang="en-US" sz="1400" dirty="0"/>
          </a:p>
          <a:p>
            <a:pPr algn="l" marL="175768" indent="-175768">
              <a:lnSpc>
                <a:spcPts val="1960"/>
              </a:lnSpc>
              <a:buSzPct val="100000"/>
              <a:buChar char="•"/>
            </a:pPr>
            <a:r>
              <a:rPr lang="en-US" sz="1400" dirty="0">
                <a:solidFill>
                  <a:srgbClr val="23262B"/>
                </a:solidFill>
                <a:latin typeface="IBM Plex Sans" pitchFamily="34" charset="0"/>
                <a:ea typeface="IBM Plex Sans" pitchFamily="34" charset="-122"/>
                <a:cs typeface="IBM Plex Sans" pitchFamily="34" charset="-120"/>
              </a:rPr>
              <a:t>No overfitting at depth 5</a:t>
            </a:r>
            <a:endParaRPr lang="en-US" sz="1400" dirty="0"/>
          </a:p>
        </p:txBody>
      </p:sp>
      <p:sp>
        <p:nvSpPr>
          <p:cNvPr id="10" name="Shape 8"/>
          <p:cNvSpPr/>
          <p:nvPr/>
        </p:nvSpPr>
        <p:spPr>
          <a:xfrm>
            <a:off x="7981950" y="1916361"/>
            <a:ext cx="3390900" cy="1902321"/>
          </a:xfrm>
          <a:prstGeom prst="roundRect">
            <a:avLst>
              <a:gd name="adj" fmla="val 5007"/>
            </a:avLst>
          </a:prstGeom>
          <a:solidFill>
            <a:srgbClr val="FCFBF9"/>
          </a:solidFill>
          <a:ln w="12700">
            <a:solidFill>
              <a:srgbClr val="DDDAD4"/>
            </a:solidFill>
            <a:prstDash val="solid"/>
          </a:ln>
        </p:spPr>
      </p:sp>
      <p:sp>
        <p:nvSpPr>
          <p:cNvPr id="11" name="Text 9"/>
          <p:cNvSpPr/>
          <p:nvPr/>
        </p:nvSpPr>
        <p:spPr>
          <a:xfrm>
            <a:off x="8216900" y="2151311"/>
            <a:ext cx="300863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23262B"/>
                </a:solidFill>
                <a:latin typeface="Bricolage Grotesque" pitchFamily="34" charset="0"/>
                <a:ea typeface="Bricolage Grotesque" pitchFamily="34" charset="-122"/>
                <a:cs typeface="Bricolage Grotesque" pitchFamily="34" charset="-120"/>
              </a:rPr>
              <a:t>Limits and next steps</a:t>
            </a:r>
            <a:endParaRPr lang="en-US" sz="2200" dirty="0"/>
          </a:p>
        </p:txBody>
      </p:sp>
      <p:sp>
        <p:nvSpPr>
          <p:cNvPr id="12" name="Text 10"/>
          <p:cNvSpPr/>
          <p:nvPr/>
        </p:nvSpPr>
        <p:spPr>
          <a:xfrm>
            <a:off x="8295132" y="2588171"/>
            <a:ext cx="2922778" cy="772071"/>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dirty="0">
                <a:solidFill>
                  <a:srgbClr val="23262B"/>
                </a:solidFill>
                <a:latin typeface="IBM Plex Sans" pitchFamily="34" charset="0"/>
                <a:ea typeface="IBM Plex Sans" pitchFamily="34" charset="-122"/>
                <a:cs typeface="IBM Plex Sans" pitchFamily="34" charset="-120"/>
              </a:rPr>
              <a:t>No medical history in the data</a:t>
            </a:r>
            <a:endParaRPr lang="en-US" sz="1400" dirty="0"/>
          </a:p>
          <a:p>
            <a:pPr algn="l" marL="175768" indent="-175768">
              <a:lnSpc>
                <a:spcPts val="1960"/>
              </a:lnSpc>
              <a:buSzPct val="100000"/>
              <a:buChar char="•"/>
            </a:pPr>
            <a:r>
              <a:rPr lang="en-US" sz="1400" dirty="0">
                <a:solidFill>
                  <a:srgbClr val="23262B"/>
                </a:solidFill>
                <a:latin typeface="IBM Plex Sans" pitchFamily="34" charset="0"/>
                <a:ea typeface="IBM Plex Sans" pitchFamily="34" charset="-122"/>
                <a:cs typeface="IBM Plex Sans" pitchFamily="34" charset="-120"/>
              </a:rPr>
              <a:t>Tune depth with GridSearchCV</a:t>
            </a:r>
            <a:endParaRPr lang="en-US" sz="1400" dirty="0"/>
          </a:p>
          <a:p>
            <a:pPr algn="l" marL="175768" indent="-175768">
              <a:lnSpc>
                <a:spcPts val="1960"/>
              </a:lnSpc>
              <a:buSzPct val="100000"/>
              <a:buChar char="•"/>
            </a:pPr>
            <a:r>
              <a:rPr lang="en-US" sz="1400" dirty="0">
                <a:solidFill>
                  <a:srgbClr val="23262B"/>
                </a:solidFill>
                <a:latin typeface="IBM Plex Sans" pitchFamily="34" charset="0"/>
                <a:ea typeface="IBM Plex Sans" pitchFamily="34" charset="-122"/>
                <a:cs typeface="IBM Plex Sans" pitchFamily="34" charset="-120"/>
              </a:rPr>
              <a:t>Compare with Random Forest</a:t>
            </a:r>
            <a:endParaRPr lang="en-US" sz="1400" dirty="0"/>
          </a:p>
        </p:txBody>
      </p:sp>
      <p:sp>
        <p:nvSpPr>
          <p:cNvPr id="13" name="Text 11"/>
          <p:cNvSpPr/>
          <p:nvPr/>
        </p:nvSpPr>
        <p:spPr>
          <a:xfrm>
            <a:off x="812800" y="4104432"/>
            <a:ext cx="9810750" cy="61466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23262B"/>
                </a:solidFill>
                <a:latin typeface="IBM Plex Sans" pitchFamily="34" charset="0"/>
                <a:ea typeface="IBM Plex Sans" pitchFamily="34" charset="-122"/>
                <a:cs typeface="IBM Plex Sans" pitchFamily="34" charset="-120"/>
              </a:rPr>
              <a:t>A simple, explainable tree captured the main cost drivers and predicts yearly bills within about $2,600 on average.</a:t>
            </a:r>
            <a:endParaRPr lang="en-US" sz="1600" dirty="0"/>
          </a:p>
        </p:txBody>
      </p:sp>
      <p:sp>
        <p:nvSpPr>
          <p:cNvPr id="14" name="Text 12"/>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IBM Plex Sans" pitchFamily="34" charset="0"/>
                <a:ea typeface="IBM Plex Sans" pitchFamily="34" charset="-122"/>
                <a:cs typeface="IBM Plex Sans" pitchFamily="34" charset="-120"/>
              </a:rPr>
              <a:t>Group 5 · Decision Tree Regression</a:t>
            </a:r>
            <a:endParaRPr lang="en-US" sz="1200" dirty="0"/>
          </a:p>
        </p:txBody>
      </p:sp>
      <p:sp>
        <p:nvSpPr>
          <p:cNvPr id="15" name="Text 1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078"/>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theme/theme1.xml><?xml version="1.0" encoding="utf-8"?>
<a:theme xmlns:a="http://schemas.openxmlformats.org/drawingml/2006/main" name="Predicting Insurance Costs with a Decision Tree">
  <a:themeElements>
    <a:clrScheme name="Predicting Insurance Costs with a Decision Tree">
      <a:dk1>
        <a:srgbClr val="23262B"/>
      </a:dk1>
      <a:lt1>
        <a:srgbClr val="F5F4F1"/>
      </a:lt1>
      <a:dk2>
        <a:srgbClr val="585A5D"/>
      </a:dk2>
      <a:lt2>
        <a:srgbClr val="E0DFDD"/>
      </a:lt2>
      <a:accent1>
        <a:srgbClr val="8A6A1F"/>
      </a:accent1>
      <a:accent2>
        <a:srgbClr val="C9A24D"/>
      </a:accent2>
      <a:accent3>
        <a:srgbClr val="6B9E78"/>
      </a:accent3>
      <a:accent4>
        <a:srgbClr val="3F7350"/>
      </a:accent4>
      <a:accent5>
        <a:srgbClr val="9E4F4F"/>
      </a:accent5>
      <a:accent6>
        <a:srgbClr val="C07A7A"/>
      </a:accent6>
      <a:hlink>
        <a:srgbClr val="0563C1"/>
      </a:hlink>
      <a:folHlink>
        <a:srgbClr val="954F72"/>
      </a:folHlink>
    </a:clrScheme>
    <a:fontScheme name="Predicting Insurance Costs with a Decision Tree">
      <a:majorFont>
        <a:latin typeface="Bricolage Grotesqu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Insurance Costs with a Decision Tree</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Bricolage Grotesque
Copyright 2022 The Bricolage Grotesque Project Authors (https://github.com/ateliertriay/bricolage)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2026-10-26T19:59:43Z</dcterms:created>
  <dcterms:modified xsi:type="dcterms:W3CDTF">2026-10-26T19:59:43Z</dcterms:modified>
</cp:coreProperties>
</file>